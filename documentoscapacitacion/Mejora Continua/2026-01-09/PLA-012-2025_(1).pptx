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62" r:id="rId2"/>
    <p:sldId id="263" r:id="rId3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B4F898-28CE-47EC-A0A8-073E42A0C939}" v="4" dt="2025-06-11T21:27:02.4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284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rge Luis Castelar Bernal" userId="9849fc5c-cf34-4d7c-8da8-94819d72a2cf" providerId="ADAL" clId="{A6B4F898-28CE-47EC-A0A8-073E42A0C939}"/>
    <pc:docChg chg="undo custSel modSld">
      <pc:chgData name="Jorge Luis Castelar Bernal" userId="9849fc5c-cf34-4d7c-8da8-94819d72a2cf" providerId="ADAL" clId="{A6B4F898-28CE-47EC-A0A8-073E42A0C939}" dt="2025-06-11T21:27:09.193" v="100" actId="14100"/>
      <pc:docMkLst>
        <pc:docMk/>
      </pc:docMkLst>
      <pc:sldChg chg="addSp delSp modSp mod">
        <pc:chgData name="Jorge Luis Castelar Bernal" userId="9849fc5c-cf34-4d7c-8da8-94819d72a2cf" providerId="ADAL" clId="{A6B4F898-28CE-47EC-A0A8-073E42A0C939}" dt="2025-06-11T21:27:09.193" v="100" actId="14100"/>
        <pc:sldMkLst>
          <pc:docMk/>
          <pc:sldMk cId="2395029075" sldId="262"/>
        </pc:sldMkLst>
        <pc:spChg chg="mod">
          <ac:chgData name="Jorge Luis Castelar Bernal" userId="9849fc5c-cf34-4d7c-8da8-94819d72a2cf" providerId="ADAL" clId="{A6B4F898-28CE-47EC-A0A8-073E42A0C939}" dt="2025-06-09T23:39:22.491" v="3" actId="1076"/>
          <ac:spMkLst>
            <pc:docMk/>
            <pc:sldMk cId="2395029075" sldId="262"/>
            <ac:spMk id="5" creationId="{00000000-0000-0000-0000-000000000000}"/>
          </ac:spMkLst>
        </pc:spChg>
        <pc:spChg chg="mod">
          <ac:chgData name="Jorge Luis Castelar Bernal" userId="9849fc5c-cf34-4d7c-8da8-94819d72a2cf" providerId="ADAL" clId="{A6B4F898-28CE-47EC-A0A8-073E42A0C939}" dt="2025-06-09T23:39:32.204" v="4"/>
          <ac:spMkLst>
            <pc:docMk/>
            <pc:sldMk cId="2395029075" sldId="262"/>
            <ac:spMk id="6" creationId="{00000000-0000-0000-0000-000000000000}"/>
          </ac:spMkLst>
        </pc:spChg>
        <pc:spChg chg="add mod">
          <ac:chgData name="Jorge Luis Castelar Bernal" userId="9849fc5c-cf34-4d7c-8da8-94819d72a2cf" providerId="ADAL" clId="{A6B4F898-28CE-47EC-A0A8-073E42A0C939}" dt="2025-06-11T21:26:58.968" v="97" actId="14100"/>
          <ac:spMkLst>
            <pc:docMk/>
            <pc:sldMk cId="2395029075" sldId="262"/>
            <ac:spMk id="8" creationId="{B4FB5347-38E3-F0C0-D955-8D0871871495}"/>
          </ac:spMkLst>
        </pc:spChg>
        <pc:spChg chg="mod">
          <ac:chgData name="Jorge Luis Castelar Bernal" userId="9849fc5c-cf34-4d7c-8da8-94819d72a2cf" providerId="ADAL" clId="{A6B4F898-28CE-47EC-A0A8-073E42A0C939}" dt="2025-06-09T23:40:57.868" v="22"/>
          <ac:spMkLst>
            <pc:docMk/>
            <pc:sldMk cId="2395029075" sldId="262"/>
            <ac:spMk id="34" creationId="{00000000-0000-0000-0000-000000000000}"/>
          </ac:spMkLst>
        </pc:spChg>
        <pc:spChg chg="add mod">
          <ac:chgData name="Jorge Luis Castelar Bernal" userId="9849fc5c-cf34-4d7c-8da8-94819d72a2cf" providerId="ADAL" clId="{A6B4F898-28CE-47EC-A0A8-073E42A0C939}" dt="2025-06-11T21:27:09.193" v="100" actId="14100"/>
          <ac:spMkLst>
            <pc:docMk/>
            <pc:sldMk cId="2395029075" sldId="262"/>
            <ac:spMk id="35" creationId="{4E8EBBAA-86AA-885D-12EA-2B427C5E8A75}"/>
          </ac:spMkLst>
        </pc:spChg>
        <pc:spChg chg="mod">
          <ac:chgData name="Jorge Luis Castelar Bernal" userId="9849fc5c-cf34-4d7c-8da8-94819d72a2cf" providerId="ADAL" clId="{A6B4F898-28CE-47EC-A0A8-073E42A0C939}" dt="2025-06-09T23:40:48.843" v="21"/>
          <ac:spMkLst>
            <pc:docMk/>
            <pc:sldMk cId="2395029075" sldId="262"/>
            <ac:spMk id="47" creationId="{00000000-0000-0000-0000-000000000000}"/>
          </ac:spMkLst>
        </pc:spChg>
        <pc:spChg chg="mod">
          <ac:chgData name="Jorge Luis Castelar Bernal" userId="9849fc5c-cf34-4d7c-8da8-94819d72a2cf" providerId="ADAL" clId="{A6B4F898-28CE-47EC-A0A8-073E42A0C939}" dt="2025-06-09T23:41:21.118" v="55" actId="20577"/>
          <ac:spMkLst>
            <pc:docMk/>
            <pc:sldMk cId="2395029075" sldId="262"/>
            <ac:spMk id="49" creationId="{00000000-0000-0000-0000-000000000000}"/>
          </ac:spMkLst>
        </pc:spChg>
        <pc:spChg chg="mod">
          <ac:chgData name="Jorge Luis Castelar Bernal" userId="9849fc5c-cf34-4d7c-8da8-94819d72a2cf" providerId="ADAL" clId="{A6B4F898-28CE-47EC-A0A8-073E42A0C939}" dt="2025-06-09T23:38:51.368" v="1"/>
          <ac:spMkLst>
            <pc:docMk/>
            <pc:sldMk cId="2395029075" sldId="262"/>
            <ac:spMk id="71" creationId="{00000000-0000-0000-0000-000000000000}"/>
          </ac:spMkLst>
        </pc:spChg>
        <pc:spChg chg="mod">
          <ac:chgData name="Jorge Luis Castelar Bernal" userId="9849fc5c-cf34-4d7c-8da8-94819d72a2cf" providerId="ADAL" clId="{A6B4F898-28CE-47EC-A0A8-073E42A0C939}" dt="2025-06-09T23:40:15.247" v="5"/>
          <ac:spMkLst>
            <pc:docMk/>
            <pc:sldMk cId="2395029075" sldId="262"/>
            <ac:spMk id="72" creationId="{00000000-0000-0000-0000-000000000000}"/>
          </ac:spMkLst>
        </pc:spChg>
        <pc:spChg chg="mod">
          <ac:chgData name="Jorge Luis Castelar Bernal" userId="9849fc5c-cf34-4d7c-8da8-94819d72a2cf" providerId="ADAL" clId="{A6B4F898-28CE-47EC-A0A8-073E42A0C939}" dt="2025-06-09T23:40:30.083" v="17" actId="20577"/>
          <ac:spMkLst>
            <pc:docMk/>
            <pc:sldMk cId="2395029075" sldId="262"/>
            <ac:spMk id="74" creationId="{00000000-0000-0000-0000-000000000000}"/>
          </ac:spMkLst>
        </pc:spChg>
        <pc:picChg chg="add mod">
          <ac:chgData name="Jorge Luis Castelar Bernal" userId="9849fc5c-cf34-4d7c-8da8-94819d72a2cf" providerId="ADAL" clId="{A6B4F898-28CE-47EC-A0A8-073E42A0C939}" dt="2025-06-10T23:12:08.553" v="92" actId="1076"/>
          <ac:picMkLst>
            <pc:docMk/>
            <pc:sldMk cId="2395029075" sldId="262"/>
            <ac:picMk id="15" creationId="{2EA21F60-3096-1A9B-2392-B0D8305C83F2}"/>
          </ac:picMkLst>
        </pc:picChg>
        <pc:picChg chg="add mod modCrop">
          <ac:chgData name="Jorge Luis Castelar Bernal" userId="9849fc5c-cf34-4d7c-8da8-94819d72a2cf" providerId="ADAL" clId="{A6B4F898-28CE-47EC-A0A8-073E42A0C939}" dt="2025-06-09T23:44:58.548" v="85" actId="14100"/>
          <ac:picMkLst>
            <pc:docMk/>
            <pc:sldMk cId="2395029075" sldId="262"/>
            <ac:picMk id="27" creationId="{639FD82B-EB24-FA75-68BE-A38CD1DB5EA6}"/>
          </ac:picMkLst>
        </pc:picChg>
        <pc:picChg chg="add mod modCrop">
          <ac:chgData name="Jorge Luis Castelar Bernal" userId="9849fc5c-cf34-4d7c-8da8-94819d72a2cf" providerId="ADAL" clId="{A6B4F898-28CE-47EC-A0A8-073E42A0C939}" dt="2025-06-09T23:44:51.098" v="82" actId="1076"/>
          <ac:picMkLst>
            <pc:docMk/>
            <pc:sldMk cId="2395029075" sldId="262"/>
            <ac:picMk id="37" creationId="{6FF38FA7-85B8-4A7A-BB14-579F0CF6679D}"/>
          </ac:picMkLst>
        </pc:picChg>
      </pc:sldChg>
      <pc:sldChg chg="modSp mod">
        <pc:chgData name="Jorge Luis Castelar Bernal" userId="9849fc5c-cf34-4d7c-8da8-94819d72a2cf" providerId="ADAL" clId="{A6B4F898-28CE-47EC-A0A8-073E42A0C939}" dt="2025-06-09T23:42:31.788" v="57"/>
        <pc:sldMkLst>
          <pc:docMk/>
          <pc:sldMk cId="2335284145" sldId="263"/>
        </pc:sldMkLst>
        <pc:spChg chg="mod">
          <ac:chgData name="Jorge Luis Castelar Bernal" userId="9849fc5c-cf34-4d7c-8da8-94819d72a2cf" providerId="ADAL" clId="{A6B4F898-28CE-47EC-A0A8-073E42A0C939}" dt="2025-06-09T23:42:31.788" v="57"/>
          <ac:spMkLst>
            <pc:docMk/>
            <pc:sldMk cId="2335284145" sldId="263"/>
            <ac:spMk id="6" creationId="{00000000-0000-0000-0000-000000000000}"/>
          </ac:spMkLst>
        </pc:spChg>
        <pc:spChg chg="mod">
          <ac:chgData name="Jorge Luis Castelar Bernal" userId="9849fc5c-cf34-4d7c-8da8-94819d72a2cf" providerId="ADAL" clId="{A6B4F898-28CE-47EC-A0A8-073E42A0C939}" dt="2025-06-09T23:42:24.139" v="56"/>
          <ac:spMkLst>
            <pc:docMk/>
            <pc:sldMk cId="2335284145" sldId="263"/>
            <ac:spMk id="20" creationId="{4FD0277D-8B8A-DA63-BEAF-3FB5E9ADF20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0EE1F3-B5FB-494F-B4E7-838DB6E3F86C}" type="datetimeFigureOut">
              <a:rPr lang="es-MX" smtClean="0"/>
              <a:t>11/06/2025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702373-FE9D-4DEF-8461-18A38AA335A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209230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D18F28-2D85-4682-B5CE-22F8B0CF0BC9}" type="slidenum">
              <a:rPr lang="es-ES" smtClean="0"/>
              <a:pPr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993946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60A415-DE47-7CB9-82D4-B313972774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D7A1724-DA81-D35E-94A4-4E328052C7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155C74D-3410-A4CF-9E85-A773019A5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83316-5407-45C0-8DFA-780A37594CDB}" type="datetimeFigureOut">
              <a:rPr lang="es-MX" smtClean="0"/>
              <a:t>11/06/2025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FA9FE1F-7580-6E31-A3E6-52D86C23C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73AA217-8009-5699-86C7-B76EE9D95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F6B96-BC58-4460-8D4D-E23A10E604A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56269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FB34D7-0756-9A1D-8137-B9D34B01B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8924F0E-A2B2-3BE1-E237-8FEF571038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C7C21C2-AAB9-0F23-BD94-1680A5610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83316-5407-45C0-8DFA-780A37594CDB}" type="datetimeFigureOut">
              <a:rPr lang="es-MX" smtClean="0"/>
              <a:t>11/06/2025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56EF254-EA84-3466-D4F0-13D91530C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C82ED3-C4AF-5F29-A514-E59D70A0B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F6B96-BC58-4460-8D4D-E23A10E604A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706888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AAF986-A498-C0C7-EACF-3614AEBFF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D9366C9-1045-1FCB-BB87-29E1213DA5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88D92C-109D-4DCE-97EF-F3A6AD1FB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83316-5407-45C0-8DFA-780A37594CDB}" type="datetimeFigureOut">
              <a:rPr lang="es-MX" smtClean="0"/>
              <a:t>11/06/2025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35DE5D3-693B-D37E-577D-3705698B4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B024AC1-B6F0-6EE9-78E6-7FDB95EDC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F6B96-BC58-4460-8D4D-E23A10E604A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0533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D26A56-282E-AA07-6DBF-7ABF92D1F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112DAB5-72FE-B418-1C71-1242345909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FE737D9-6865-E116-FF08-7DF534CF73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4AE398A-1507-5D38-DAFE-AC503CDAF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83316-5407-45C0-8DFA-780A37594CDB}" type="datetimeFigureOut">
              <a:rPr lang="es-MX" smtClean="0"/>
              <a:t>11/06/2025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21DFA9C-0722-EBC6-A7C0-9AEBC2645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F2FB240-C9F7-40C2-9FE4-27BB2CA9E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F6B96-BC58-4460-8D4D-E23A10E604A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15215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AA4766-3233-1FAD-D0C8-CCC1EE54C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2752000-8939-F243-12A5-0E77796BA3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2FB0D06-6F35-F73E-EFFE-006BE2A743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3A14BAB-0CF9-FD1E-F960-90584AA2F0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13BCFF3-BE5A-5576-8220-FD99339135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1897323-3330-EF3A-8F29-68AFD18D8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83316-5407-45C0-8DFA-780A37594CDB}" type="datetimeFigureOut">
              <a:rPr lang="es-MX" smtClean="0"/>
              <a:t>11/06/2025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5828E28-E3D2-2F5B-A8F9-DE6935BB7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3179BD8-12B9-05E7-99B9-618267B2F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F6B96-BC58-4460-8D4D-E23A10E604A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815303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0637AD-0C70-AE1C-F30E-435BD4D15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D79130F-D02C-C459-A72D-E3DE03346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83316-5407-45C0-8DFA-780A37594CDB}" type="datetimeFigureOut">
              <a:rPr lang="es-MX" smtClean="0"/>
              <a:t>11/06/2025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4315609-EF7D-2DE6-0FFF-A818D8D16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DBA8E71-7EED-BC3C-05D2-F7DBF73B5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F6B96-BC58-4460-8D4D-E23A10E604A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989906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8C8F163-3AC4-2724-2F3F-38C212D5C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83316-5407-45C0-8DFA-780A37594CDB}" type="datetimeFigureOut">
              <a:rPr lang="es-MX" smtClean="0"/>
              <a:t>11/06/2025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3117B5D-9EA2-609A-7E25-4E8E064C5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26314FF-2CD5-364C-FD98-6D266DCF5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F6B96-BC58-4460-8D4D-E23A10E604A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81923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C7FF2D-92FC-04F7-9C1E-B969278B6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8A0063D-0CAD-7C68-5611-4BD7804AEE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05998-05AA-4342-3058-E6DFA31E42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5C925B6-D83D-4DB0-C64B-49311A8D0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83316-5407-45C0-8DFA-780A37594CDB}" type="datetimeFigureOut">
              <a:rPr lang="es-MX" smtClean="0"/>
              <a:t>11/06/2025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F3B62EB-3507-9CCD-AC4E-BB0E3F118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C206193-2AB5-FE06-8200-C05F66372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F6B96-BC58-4460-8D4D-E23A10E604A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392404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92E0D1-2274-B673-ABAF-E7667664B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D42E02A-2DE3-E4B1-B3AB-51EA5FAF9A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0C5D308-F853-D5BC-9C37-A18F86424B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CD57EF1-6DD9-0105-222F-FED7AFF16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83316-5407-45C0-8DFA-780A37594CDB}" type="datetimeFigureOut">
              <a:rPr lang="es-MX" smtClean="0"/>
              <a:t>11/06/2025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2AB75AE-BE5A-7FE0-84F8-16F507CD6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86754BE-50F0-C7B8-86EF-8CE048886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F6B96-BC58-4460-8D4D-E23A10E604A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62470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6F2DF3-EB90-144C-58F2-716F96F80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5F25F89-7270-E3D2-1749-298E6683B6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471767E-F9CF-6044-E893-DDEF63638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83316-5407-45C0-8DFA-780A37594CDB}" type="datetimeFigureOut">
              <a:rPr lang="es-MX" smtClean="0"/>
              <a:t>11/06/2025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16B346-13AE-F422-C574-ABDDDA8D2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1E175A5-3F01-F52F-0B94-57BA4685F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F6B96-BC58-4460-8D4D-E23A10E604A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06521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0897987-6B0F-7108-6FA4-3DB78C5102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0465524-BE72-27F7-AE31-AB68B58E80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C574848-A390-411F-503C-1C2309FBC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83316-5407-45C0-8DFA-780A37594CDB}" type="datetimeFigureOut">
              <a:rPr lang="es-MX" smtClean="0"/>
              <a:t>11/06/2025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D90343A-1973-9664-0A31-BC7E55628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4F0734C-1550-B09D-7E85-31AEA172A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F6B96-BC58-4460-8D4D-E23A10E604A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099181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E2F7C-BB65-478B-8239-87731F3E9976}" type="datetimeFigureOut">
              <a:rPr lang="es-ES" smtClean="0"/>
              <a:pPr/>
              <a:t>11/06/2025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9360363" y="6597352"/>
            <a:ext cx="2844800" cy="26064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s-ES" dirty="0"/>
              <a:t>REV</a:t>
            </a:r>
          </a:p>
        </p:txBody>
      </p:sp>
    </p:spTree>
    <p:extLst>
      <p:ext uri="{BB962C8B-B14F-4D97-AF65-F5344CB8AC3E}">
        <p14:creationId xmlns:p14="http://schemas.microsoft.com/office/powerpoint/2010/main" val="3412672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5882CEC-00AB-3E04-98AE-81D136929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47ED220-CEEF-1A6E-AB5E-C394D7E8BA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231E64-7386-5149-73B1-A1C85F5708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083316-5407-45C0-8DFA-780A37594CDB}" type="datetimeFigureOut">
              <a:rPr lang="es-MX" smtClean="0"/>
              <a:t>11/06/2025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7FDC509-C3AD-650C-7CF6-5F1B64C754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004D6CD-F803-7EDF-B815-8F0AE60B0C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1F6B96-BC58-4460-8D4D-E23A10E604A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22572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3" Type="http://schemas.openxmlformats.org/officeDocument/2006/relationships/image" Target="../media/image1.emf"/><Relationship Id="rId7" Type="http://schemas.openxmlformats.org/officeDocument/2006/relationships/image" Target="file:///C:\Mis%20documentos\Mis%20im&#225;genes\Dibujo.bmp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11" Type="http://schemas.openxmlformats.org/officeDocument/2006/relationships/image" Target="../media/image8.jpg"/><Relationship Id="rId5" Type="http://schemas.openxmlformats.org/officeDocument/2006/relationships/image" Target="../media/image3.png"/><Relationship Id="rId10" Type="http://schemas.openxmlformats.org/officeDocument/2006/relationships/image" Target="../media/image7.jpg"/><Relationship Id="rId4" Type="http://schemas.openxmlformats.org/officeDocument/2006/relationships/image" Target="../media/image2.emf"/><Relationship Id="rId9" Type="http://schemas.openxmlformats.org/officeDocument/2006/relationships/image" Target="../media/image6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w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2.xml"/><Relationship Id="rId6" Type="http://schemas.openxmlformats.org/officeDocument/2006/relationships/image" Target="file:///C:\Mis%20documentos\Mis%20im&#225;genes\Dibujo.bmp" TargetMode="External"/><Relationship Id="rId5" Type="http://schemas.openxmlformats.org/officeDocument/2006/relationships/image" Target="../media/image4.png"/><Relationship Id="rId4" Type="http://schemas.openxmlformats.org/officeDocument/2006/relationships/image" Target="../media/image10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11 Rectángulo">
            <a:extLst>
              <a:ext uri="{FF2B5EF4-FFF2-40B4-BE49-F238E27FC236}">
                <a16:creationId xmlns:a16="http://schemas.microsoft.com/office/drawing/2014/main" id="{EB7C3DB0-4C77-0BEA-671E-E8DF21B3EAD4}"/>
              </a:ext>
            </a:extLst>
          </p:cNvPr>
          <p:cNvSpPr/>
          <p:nvPr/>
        </p:nvSpPr>
        <p:spPr>
          <a:xfrm>
            <a:off x="1558480" y="630405"/>
            <a:ext cx="5652120" cy="360040"/>
          </a:xfrm>
          <a:prstGeom prst="rect">
            <a:avLst/>
          </a:prstGeom>
          <a:solidFill>
            <a:srgbClr val="C00000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400" b="1" dirty="0">
                <a:latin typeface="Arial" pitchFamily="34" charset="0"/>
                <a:cs typeface="Arial" pitchFamily="34" charset="0"/>
              </a:rPr>
              <a:t>NOMBRE DE LA SUGERENCIA:</a:t>
            </a:r>
          </a:p>
        </p:txBody>
      </p:sp>
      <p:sp>
        <p:nvSpPr>
          <p:cNvPr id="64" name="63 Rectángulo"/>
          <p:cNvSpPr/>
          <p:nvPr/>
        </p:nvSpPr>
        <p:spPr>
          <a:xfrm>
            <a:off x="6096000" y="1376800"/>
            <a:ext cx="4536504" cy="39601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8" name="27 Rectángulo"/>
          <p:cNvSpPr/>
          <p:nvPr/>
        </p:nvSpPr>
        <p:spPr>
          <a:xfrm>
            <a:off x="1559496" y="1376800"/>
            <a:ext cx="4536504" cy="39601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11 Rectángulo"/>
          <p:cNvSpPr/>
          <p:nvPr/>
        </p:nvSpPr>
        <p:spPr>
          <a:xfrm>
            <a:off x="1559496" y="620688"/>
            <a:ext cx="5652120" cy="360040"/>
          </a:xfrm>
          <a:prstGeom prst="rect">
            <a:avLst/>
          </a:prstGeom>
          <a:solidFill>
            <a:srgbClr val="C00000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400" b="1" dirty="0">
                <a:latin typeface="Arial" pitchFamily="34" charset="0"/>
                <a:cs typeface="Arial" pitchFamily="34" charset="0"/>
              </a:rPr>
              <a:t>NOMBRE DE LA SUGERENCIA:</a:t>
            </a:r>
          </a:p>
        </p:txBody>
      </p:sp>
      <p:sp>
        <p:nvSpPr>
          <p:cNvPr id="10" name="9 Rectángulo"/>
          <p:cNvSpPr/>
          <p:nvPr/>
        </p:nvSpPr>
        <p:spPr>
          <a:xfrm>
            <a:off x="1559496" y="44624"/>
            <a:ext cx="9071992" cy="50405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10 CuadroTexto"/>
          <p:cNvSpPr txBox="1"/>
          <p:nvPr/>
        </p:nvSpPr>
        <p:spPr>
          <a:xfrm>
            <a:off x="3719232" y="65821"/>
            <a:ext cx="47525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i="1" dirty="0"/>
              <a:t>SUGERENCIAS DE COLABORADORES</a:t>
            </a:r>
          </a:p>
        </p:txBody>
      </p:sp>
      <p:sp>
        <p:nvSpPr>
          <p:cNvPr id="13" name="12 Rectángulo"/>
          <p:cNvSpPr/>
          <p:nvPr/>
        </p:nvSpPr>
        <p:spPr>
          <a:xfrm>
            <a:off x="4367808" y="692696"/>
            <a:ext cx="2772000" cy="2160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" name="18 Rectángulo"/>
          <p:cNvSpPr/>
          <p:nvPr/>
        </p:nvSpPr>
        <p:spPr>
          <a:xfrm>
            <a:off x="7212632" y="620688"/>
            <a:ext cx="3420000" cy="360040"/>
          </a:xfrm>
          <a:prstGeom prst="rect">
            <a:avLst/>
          </a:prstGeom>
          <a:solidFill>
            <a:schemeClr val="bg1">
              <a:lumMod val="50000"/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 dirty="0">
                <a:latin typeface="Arial" pitchFamily="34" charset="0"/>
                <a:cs typeface="Arial" pitchFamily="34" charset="0"/>
              </a:rPr>
              <a:t>ENERYA - RIASA</a:t>
            </a:r>
          </a:p>
        </p:txBody>
      </p:sp>
      <p:sp>
        <p:nvSpPr>
          <p:cNvPr id="20" name="19 Rectángulo"/>
          <p:cNvSpPr/>
          <p:nvPr/>
        </p:nvSpPr>
        <p:spPr>
          <a:xfrm>
            <a:off x="1559496" y="980728"/>
            <a:ext cx="3672408" cy="36004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050" dirty="0"/>
              <a:t>Nombre del Colaborador: </a:t>
            </a:r>
          </a:p>
        </p:txBody>
      </p:sp>
      <p:sp>
        <p:nvSpPr>
          <p:cNvPr id="14" name="13 Rectángulo"/>
          <p:cNvSpPr/>
          <p:nvPr/>
        </p:nvSpPr>
        <p:spPr>
          <a:xfrm>
            <a:off x="3071664" y="1052736"/>
            <a:ext cx="2088000" cy="2160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15 Rectángulo"/>
          <p:cNvSpPr/>
          <p:nvPr/>
        </p:nvSpPr>
        <p:spPr>
          <a:xfrm>
            <a:off x="5231904" y="980728"/>
            <a:ext cx="2016224" cy="36004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050" dirty="0"/>
              <a:t>N</a:t>
            </a:r>
            <a:r>
              <a:rPr lang="es-MX" sz="1050" dirty="0" err="1"/>
              <a:t>úmero</a:t>
            </a:r>
            <a:r>
              <a:rPr lang="es-MX" sz="1050" dirty="0"/>
              <a:t> de Nómina</a:t>
            </a:r>
            <a:r>
              <a:rPr lang="es-ES" sz="1050" dirty="0"/>
              <a:t>: </a:t>
            </a:r>
          </a:p>
        </p:txBody>
      </p:sp>
      <p:sp>
        <p:nvSpPr>
          <p:cNvPr id="17" name="16 Rectángulo"/>
          <p:cNvSpPr/>
          <p:nvPr/>
        </p:nvSpPr>
        <p:spPr>
          <a:xfrm>
            <a:off x="6492120" y="1052736"/>
            <a:ext cx="720000" cy="2160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" name="17 Rectángulo"/>
          <p:cNvSpPr/>
          <p:nvPr/>
        </p:nvSpPr>
        <p:spPr>
          <a:xfrm>
            <a:off x="7248128" y="980728"/>
            <a:ext cx="2088232" cy="36004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050" dirty="0"/>
              <a:t>Fecha de Sugerencia: </a:t>
            </a:r>
          </a:p>
        </p:txBody>
      </p:sp>
      <p:sp>
        <p:nvSpPr>
          <p:cNvPr id="21" name="20 Rectángulo"/>
          <p:cNvSpPr/>
          <p:nvPr/>
        </p:nvSpPr>
        <p:spPr>
          <a:xfrm>
            <a:off x="8544352" y="1052736"/>
            <a:ext cx="720000" cy="2160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2" name="21 Rectángulo"/>
          <p:cNvSpPr/>
          <p:nvPr/>
        </p:nvSpPr>
        <p:spPr>
          <a:xfrm>
            <a:off x="9264504" y="980728"/>
            <a:ext cx="1368000" cy="36004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050" dirty="0"/>
              <a:t>Folio: </a:t>
            </a:r>
          </a:p>
        </p:txBody>
      </p:sp>
      <p:sp>
        <p:nvSpPr>
          <p:cNvPr id="23" name="22 Rectángulo"/>
          <p:cNvSpPr/>
          <p:nvPr/>
        </p:nvSpPr>
        <p:spPr>
          <a:xfrm>
            <a:off x="9696400" y="1052736"/>
            <a:ext cx="864000" cy="2160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23 Elipse"/>
          <p:cNvSpPr/>
          <p:nvPr/>
        </p:nvSpPr>
        <p:spPr>
          <a:xfrm>
            <a:off x="1847528" y="1448808"/>
            <a:ext cx="252000" cy="2520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s-MX" b="1" dirty="0">
                <a:solidFill>
                  <a:srgbClr val="FFFFFF"/>
                </a:solidFill>
              </a:rPr>
              <a:t>P</a:t>
            </a:r>
          </a:p>
        </p:txBody>
      </p:sp>
      <p:pic>
        <p:nvPicPr>
          <p:cNvPr id="25" name="Imagen 1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631506" y="1412776"/>
            <a:ext cx="185380" cy="288000"/>
          </a:xfrm>
          <a:prstGeom prst="rect">
            <a:avLst/>
          </a:prstGeom>
        </p:spPr>
      </p:pic>
      <p:sp>
        <p:nvSpPr>
          <p:cNvPr id="29" name="28 Rectángulo"/>
          <p:cNvSpPr/>
          <p:nvPr/>
        </p:nvSpPr>
        <p:spPr>
          <a:xfrm>
            <a:off x="1559496" y="1368152"/>
            <a:ext cx="4536504" cy="5310000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0" name="29 CuadroTexto"/>
          <p:cNvSpPr txBox="1"/>
          <p:nvPr/>
        </p:nvSpPr>
        <p:spPr>
          <a:xfrm>
            <a:off x="2135560" y="1390142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i="1" dirty="0">
                <a:solidFill>
                  <a:schemeClr val="bg1"/>
                </a:solidFill>
              </a:rPr>
              <a:t>PLAN</a:t>
            </a:r>
          </a:p>
        </p:txBody>
      </p:sp>
      <p:sp>
        <p:nvSpPr>
          <p:cNvPr id="31" name="30 Rectángulo"/>
          <p:cNvSpPr/>
          <p:nvPr/>
        </p:nvSpPr>
        <p:spPr>
          <a:xfrm>
            <a:off x="4295800" y="1466796"/>
            <a:ext cx="216024" cy="2160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x</a:t>
            </a:r>
          </a:p>
        </p:txBody>
      </p:sp>
      <p:sp>
        <p:nvSpPr>
          <p:cNvPr id="32" name="31 Rectángulo"/>
          <p:cNvSpPr/>
          <p:nvPr/>
        </p:nvSpPr>
        <p:spPr>
          <a:xfrm>
            <a:off x="5735960" y="1466796"/>
            <a:ext cx="216024" cy="2160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6" name="25 CuadroTexto"/>
          <p:cNvSpPr txBox="1"/>
          <p:nvPr/>
        </p:nvSpPr>
        <p:spPr>
          <a:xfrm>
            <a:off x="4799856" y="1420921"/>
            <a:ext cx="10081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>
                <a:solidFill>
                  <a:schemeClr val="bg1"/>
                </a:solidFill>
              </a:rPr>
              <a:t>No Factible</a:t>
            </a:r>
            <a:endParaRPr lang="es-MX" sz="1400" dirty="0">
              <a:solidFill>
                <a:schemeClr val="bg1"/>
              </a:solidFill>
            </a:endParaRPr>
          </a:p>
        </p:txBody>
      </p:sp>
      <p:sp>
        <p:nvSpPr>
          <p:cNvPr id="33" name="32 CuadroTexto"/>
          <p:cNvSpPr txBox="1"/>
          <p:nvPr/>
        </p:nvSpPr>
        <p:spPr>
          <a:xfrm>
            <a:off x="3575720" y="1412777"/>
            <a:ext cx="7920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>
                <a:solidFill>
                  <a:schemeClr val="bg1"/>
                </a:solidFill>
              </a:rPr>
              <a:t> Factible</a:t>
            </a:r>
            <a:endParaRPr lang="es-MX" sz="1400" dirty="0">
              <a:solidFill>
                <a:schemeClr val="bg1"/>
              </a:solidFill>
            </a:endParaRPr>
          </a:p>
        </p:txBody>
      </p:sp>
      <p:grpSp>
        <p:nvGrpSpPr>
          <p:cNvPr id="2" name="Grupo 1"/>
          <p:cNvGrpSpPr/>
          <p:nvPr/>
        </p:nvGrpSpPr>
        <p:grpSpPr>
          <a:xfrm>
            <a:off x="1611012" y="5973363"/>
            <a:ext cx="4412980" cy="648072"/>
            <a:chOff x="87012" y="6093296"/>
            <a:chExt cx="4412980" cy="648072"/>
          </a:xfrm>
        </p:grpSpPr>
        <p:sp>
          <p:nvSpPr>
            <p:cNvPr id="45" name="44 Rectángulo"/>
            <p:cNvSpPr/>
            <p:nvPr/>
          </p:nvSpPr>
          <p:spPr>
            <a:xfrm>
              <a:off x="107504" y="6093296"/>
              <a:ext cx="4392488" cy="648072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9" name="48 Rectángulo"/>
            <p:cNvSpPr/>
            <p:nvPr/>
          </p:nvSpPr>
          <p:spPr>
            <a:xfrm>
              <a:off x="1763688" y="6165304"/>
              <a:ext cx="2664296" cy="523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1000" dirty="0">
                  <a:solidFill>
                    <a:schemeClr val="tx1"/>
                  </a:solidFill>
                </a:rPr>
                <a:t>Seguridad al personal en el cruce</a:t>
              </a:r>
              <a:endParaRPr lang="es-ES" sz="1000" dirty="0">
                <a:solidFill>
                  <a:schemeClr val="tx1"/>
                </a:solidFill>
              </a:endParaRPr>
            </a:p>
          </p:txBody>
        </p:sp>
        <p:sp>
          <p:nvSpPr>
            <p:cNvPr id="55" name="54 CuadroTexto"/>
            <p:cNvSpPr txBox="1"/>
            <p:nvPr/>
          </p:nvSpPr>
          <p:spPr>
            <a:xfrm>
              <a:off x="87012" y="6165304"/>
              <a:ext cx="174868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MX" sz="1400" b="1" dirty="0">
                  <a:solidFill>
                    <a:schemeClr val="bg1"/>
                  </a:solidFill>
                </a:rPr>
                <a:t>Beneficios Esperados</a:t>
              </a:r>
            </a:p>
            <a:p>
              <a:pPr algn="ctr"/>
              <a:r>
                <a:rPr lang="es-MX" sz="1400" b="1" dirty="0">
                  <a:solidFill>
                    <a:schemeClr val="bg1"/>
                  </a:solidFill>
                </a:rPr>
                <a:t>(Impacto/Indicador)</a:t>
              </a:r>
              <a:endParaRPr lang="es-ES" sz="14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65" name="64 Elipse"/>
          <p:cNvSpPr/>
          <p:nvPr/>
        </p:nvSpPr>
        <p:spPr>
          <a:xfrm>
            <a:off x="6420064" y="1448808"/>
            <a:ext cx="252000" cy="2520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s-MX" b="1" dirty="0">
                <a:solidFill>
                  <a:srgbClr val="FFFFFF"/>
                </a:solidFill>
              </a:rPr>
              <a:t>D</a:t>
            </a:r>
          </a:p>
        </p:txBody>
      </p:sp>
      <p:pic>
        <p:nvPicPr>
          <p:cNvPr id="66" name="Imagen 3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168011" y="1430808"/>
            <a:ext cx="183665" cy="288000"/>
          </a:xfrm>
          <a:prstGeom prst="rect">
            <a:avLst/>
          </a:prstGeom>
        </p:spPr>
      </p:pic>
      <p:sp>
        <p:nvSpPr>
          <p:cNvPr id="67" name="66 CuadroTexto"/>
          <p:cNvSpPr txBox="1"/>
          <p:nvPr/>
        </p:nvSpPr>
        <p:spPr>
          <a:xfrm>
            <a:off x="6672064" y="1390142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i="1" dirty="0">
                <a:solidFill>
                  <a:schemeClr val="bg1"/>
                </a:solidFill>
              </a:rPr>
              <a:t>EJECUCIÓN</a:t>
            </a:r>
            <a:endParaRPr lang="es-ES" b="1" i="1" dirty="0">
              <a:solidFill>
                <a:schemeClr val="bg1"/>
              </a:solidFill>
            </a:endParaRPr>
          </a:p>
        </p:txBody>
      </p:sp>
      <p:sp>
        <p:nvSpPr>
          <p:cNvPr id="50" name="49 Rectángulo"/>
          <p:cNvSpPr/>
          <p:nvPr/>
        </p:nvSpPr>
        <p:spPr>
          <a:xfrm>
            <a:off x="6168008" y="1845040"/>
            <a:ext cx="4392000" cy="4788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1" name="50 CuadroTexto"/>
          <p:cNvSpPr txBox="1"/>
          <p:nvPr/>
        </p:nvSpPr>
        <p:spPr>
          <a:xfrm>
            <a:off x="7091865" y="1825080"/>
            <a:ext cx="25442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400" b="1" dirty="0">
                <a:solidFill>
                  <a:schemeClr val="bg1"/>
                </a:solidFill>
              </a:rPr>
              <a:t>Evidencia de la Implementación</a:t>
            </a:r>
            <a:endParaRPr lang="es-ES" sz="1400" b="1" dirty="0">
              <a:solidFill>
                <a:schemeClr val="bg1"/>
              </a:solidFill>
            </a:endParaRPr>
          </a:p>
        </p:txBody>
      </p:sp>
      <p:sp>
        <p:nvSpPr>
          <p:cNvPr id="58" name="57 Rectángulo"/>
          <p:cNvSpPr/>
          <p:nvPr/>
        </p:nvSpPr>
        <p:spPr>
          <a:xfrm>
            <a:off x="6240160" y="2132856"/>
            <a:ext cx="4248328" cy="21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n/a</a:t>
            </a:r>
          </a:p>
        </p:txBody>
      </p:sp>
      <p:sp>
        <p:nvSpPr>
          <p:cNvPr id="69" name="68 Rectángulo redondeado"/>
          <p:cNvSpPr/>
          <p:nvPr/>
        </p:nvSpPr>
        <p:spPr>
          <a:xfrm>
            <a:off x="7680248" y="2060848"/>
            <a:ext cx="1368152" cy="216024"/>
          </a:xfrm>
          <a:prstGeom prst="roundRect">
            <a:avLst/>
          </a:prstGeom>
          <a:solidFill>
            <a:schemeClr val="tx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dirty="0"/>
              <a:t>ANTES</a:t>
            </a:r>
            <a:endParaRPr lang="es-ES" sz="1400" dirty="0"/>
          </a:p>
        </p:txBody>
      </p:sp>
      <p:sp>
        <p:nvSpPr>
          <p:cNvPr id="76" name="75 CuadroTexto"/>
          <p:cNvSpPr txBox="1"/>
          <p:nvPr/>
        </p:nvSpPr>
        <p:spPr>
          <a:xfrm>
            <a:off x="8544272" y="1340769"/>
            <a:ext cx="129614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chemeClr val="bg1"/>
                </a:solidFill>
              </a:rPr>
              <a:t> Fecha de </a:t>
            </a:r>
          </a:p>
          <a:p>
            <a:r>
              <a:rPr lang="es-ES" sz="1100" dirty="0">
                <a:solidFill>
                  <a:schemeClr val="bg1"/>
                </a:solidFill>
              </a:rPr>
              <a:t>Implementación:</a:t>
            </a:r>
            <a:endParaRPr lang="es-MX" sz="1100" dirty="0">
              <a:solidFill>
                <a:schemeClr val="bg1"/>
              </a:solidFill>
            </a:endParaRPr>
          </a:p>
        </p:txBody>
      </p:sp>
      <p:sp>
        <p:nvSpPr>
          <p:cNvPr id="77" name="76 Rectángulo"/>
          <p:cNvSpPr/>
          <p:nvPr/>
        </p:nvSpPr>
        <p:spPr>
          <a:xfrm>
            <a:off x="9624392" y="1430808"/>
            <a:ext cx="900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grpSp>
        <p:nvGrpSpPr>
          <p:cNvPr id="4" name="Grupo 3"/>
          <p:cNvGrpSpPr/>
          <p:nvPr/>
        </p:nvGrpSpPr>
        <p:grpSpPr>
          <a:xfrm>
            <a:off x="1631504" y="1724691"/>
            <a:ext cx="4356240" cy="2124008"/>
            <a:chOff x="107504" y="1772816"/>
            <a:chExt cx="4356240" cy="2124008"/>
          </a:xfrm>
        </p:grpSpPr>
        <p:sp>
          <p:nvSpPr>
            <p:cNvPr id="40" name="39 Rectángulo"/>
            <p:cNvSpPr/>
            <p:nvPr/>
          </p:nvSpPr>
          <p:spPr>
            <a:xfrm>
              <a:off x="107504" y="1844824"/>
              <a:ext cx="2088000" cy="20520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6" name="45 CuadroTexto"/>
            <p:cNvSpPr txBox="1"/>
            <p:nvPr/>
          </p:nvSpPr>
          <p:spPr>
            <a:xfrm>
              <a:off x="456442" y="1825079"/>
              <a:ext cx="139012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400" b="1" dirty="0">
                  <a:solidFill>
                    <a:schemeClr val="bg1"/>
                  </a:solidFill>
                </a:rPr>
                <a:t>Situación Actual</a:t>
              </a:r>
              <a:endParaRPr lang="es-ES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47" name="46 Rectángulo"/>
            <p:cNvSpPr/>
            <p:nvPr/>
          </p:nvSpPr>
          <p:spPr>
            <a:xfrm>
              <a:off x="179656" y="2116679"/>
              <a:ext cx="1944072" cy="169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1100" b="0" i="0" dirty="0">
                  <a:solidFill>
                    <a:srgbClr val="41464B"/>
                  </a:solidFill>
                  <a:effectLst/>
                  <a:latin typeface="system-ui"/>
                </a:rPr>
                <a:t> Entre la empastadora 5 y caseta de </a:t>
              </a:r>
              <a:r>
                <a:rPr lang="es-MX" sz="1100" b="0" i="0" dirty="0" err="1">
                  <a:solidFill>
                    <a:srgbClr val="41464B"/>
                  </a:solidFill>
                  <a:effectLst/>
                  <a:latin typeface="system-ui"/>
                </a:rPr>
                <a:t>de</a:t>
              </a:r>
              <a:r>
                <a:rPr lang="es-MX" sz="1100" b="0" i="0" dirty="0">
                  <a:solidFill>
                    <a:srgbClr val="41464B"/>
                  </a:solidFill>
                  <a:effectLst/>
                  <a:latin typeface="system-ui"/>
                </a:rPr>
                <a:t> SUP se encuentra un punto ciego entre pasillo peatonal ya que ahí transita mucho personal por el checador que esta ahí mismo en caseta de supervisor placas.</a:t>
              </a:r>
              <a:endParaRPr lang="es-ES" sz="1100" dirty="0">
                <a:solidFill>
                  <a:schemeClr val="tx1"/>
                </a:solidFill>
              </a:endParaRPr>
            </a:p>
          </p:txBody>
        </p:sp>
        <p:sp>
          <p:nvSpPr>
            <p:cNvPr id="57" name="56 Rectángulo"/>
            <p:cNvSpPr/>
            <p:nvPr/>
          </p:nvSpPr>
          <p:spPr>
            <a:xfrm>
              <a:off x="2267744" y="2205040"/>
              <a:ext cx="2196000" cy="1656008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61" name="60 Rectángulo"/>
            <p:cNvSpPr/>
            <p:nvPr/>
          </p:nvSpPr>
          <p:spPr>
            <a:xfrm>
              <a:off x="2483768" y="1772816"/>
              <a:ext cx="1872208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s-E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En caso de No Factibilidad, plasmar en este recuadro el MOTIVO del mismo.</a:t>
              </a:r>
              <a:endParaRPr lang="es-MX" sz="8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62" name="61 Rectángulo redondeado"/>
            <p:cNvSpPr/>
            <p:nvPr/>
          </p:nvSpPr>
          <p:spPr>
            <a:xfrm>
              <a:off x="2537744" y="2132856"/>
              <a:ext cx="1656000" cy="216024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1400" dirty="0"/>
                <a:t>DIBUJO ACTUAL</a:t>
              </a:r>
              <a:endParaRPr lang="es-ES" sz="1400" dirty="0"/>
            </a:p>
          </p:txBody>
        </p:sp>
      </p:grpSp>
      <p:sp>
        <p:nvSpPr>
          <p:cNvPr id="83" name="82 Rectángulo"/>
          <p:cNvSpPr/>
          <p:nvPr/>
        </p:nvSpPr>
        <p:spPr>
          <a:xfrm>
            <a:off x="6240016" y="4374729"/>
            <a:ext cx="4248328" cy="223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0" name="69 Rectángulo redondeado"/>
          <p:cNvSpPr/>
          <p:nvPr/>
        </p:nvSpPr>
        <p:spPr>
          <a:xfrm>
            <a:off x="7680176" y="4302721"/>
            <a:ext cx="1368152" cy="216024"/>
          </a:xfrm>
          <a:prstGeom prst="roundRect">
            <a:avLst/>
          </a:prstGeom>
          <a:solidFill>
            <a:schemeClr val="tx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dirty="0"/>
              <a:t>DESPUÉS</a:t>
            </a:r>
            <a:endParaRPr lang="es-ES" sz="1400" dirty="0"/>
          </a:p>
        </p:txBody>
      </p:sp>
      <p:pic>
        <p:nvPicPr>
          <p:cNvPr id="1026" name="Picture 2" descr="C:\Users\agonzalezd.GONHER\AppData\Local\Microsoft\Windows\Temporary Internet Files\Content.Outlook\8IFN941U\Logo_MejoraContinua (3).png"/>
          <p:cNvPicPr>
            <a:picLocks noChangeAspect="1" noChangeArrowheads="1"/>
          </p:cNvPicPr>
          <p:nvPr/>
        </p:nvPicPr>
        <p:blipFill>
          <a:blip r:embed="rId5" cstate="print"/>
          <a:srcRect l="22766" t="7350" r="21542" b="52100"/>
          <a:stretch>
            <a:fillRect/>
          </a:stretch>
        </p:blipFill>
        <p:spPr bwMode="auto">
          <a:xfrm>
            <a:off x="9696400" y="61528"/>
            <a:ext cx="828000" cy="466854"/>
          </a:xfrm>
          <a:prstGeom prst="rect">
            <a:avLst/>
          </a:prstGeom>
          <a:noFill/>
        </p:spPr>
      </p:pic>
      <p:grpSp>
        <p:nvGrpSpPr>
          <p:cNvPr id="3" name="Grupo 2"/>
          <p:cNvGrpSpPr/>
          <p:nvPr/>
        </p:nvGrpSpPr>
        <p:grpSpPr>
          <a:xfrm>
            <a:off x="1631504" y="3851523"/>
            <a:ext cx="4356240" cy="2088232"/>
            <a:chOff x="107504" y="3933056"/>
            <a:chExt cx="4356240" cy="2088232"/>
          </a:xfrm>
        </p:grpSpPr>
        <p:sp>
          <p:nvSpPr>
            <p:cNvPr id="59" name="58 Rectángulo"/>
            <p:cNvSpPr/>
            <p:nvPr/>
          </p:nvSpPr>
          <p:spPr>
            <a:xfrm>
              <a:off x="2267744" y="4077072"/>
              <a:ext cx="2196000" cy="1872208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63" name="62 Rectángulo redondeado"/>
            <p:cNvSpPr/>
            <p:nvPr/>
          </p:nvSpPr>
          <p:spPr>
            <a:xfrm>
              <a:off x="2537744" y="4005064"/>
              <a:ext cx="1656000" cy="216024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1400" dirty="0"/>
                <a:t>DIBUJO PROPUESTA</a:t>
              </a:r>
              <a:endParaRPr lang="es-ES" sz="1400" dirty="0"/>
            </a:p>
          </p:txBody>
        </p:sp>
        <p:sp>
          <p:nvSpPr>
            <p:cNvPr id="86" name="85 Rectángulo"/>
            <p:cNvSpPr/>
            <p:nvPr/>
          </p:nvSpPr>
          <p:spPr>
            <a:xfrm>
              <a:off x="107504" y="3969288"/>
              <a:ext cx="2088000" cy="20520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87" name="86 Rectángulo"/>
            <p:cNvSpPr/>
            <p:nvPr/>
          </p:nvSpPr>
          <p:spPr>
            <a:xfrm>
              <a:off x="179656" y="4221088"/>
              <a:ext cx="1944072" cy="172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88" name="87 CuadroTexto"/>
            <p:cNvSpPr txBox="1"/>
            <p:nvPr/>
          </p:nvSpPr>
          <p:spPr>
            <a:xfrm>
              <a:off x="467544" y="3933056"/>
              <a:ext cx="139012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1400" b="1" dirty="0">
                  <a:solidFill>
                    <a:schemeClr val="bg1"/>
                  </a:solidFill>
                </a:rPr>
                <a:t>Idea Propuesta</a:t>
              </a:r>
              <a:endParaRPr lang="es-ES" sz="14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56" name="28 Rectángulo"/>
          <p:cNvSpPr/>
          <p:nvPr/>
        </p:nvSpPr>
        <p:spPr>
          <a:xfrm>
            <a:off x="6095756" y="1368152"/>
            <a:ext cx="4536504" cy="5310000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60" name="5 Imagen" descr="C:\Mis documentos\Mis imágenes\Dibujo.bmp"/>
          <p:cNvPicPr/>
          <p:nvPr/>
        </p:nvPicPr>
        <p:blipFill>
          <a:blip r:embed="rId6" r:link="rId7" cstate="print"/>
          <a:srcRect t="9990" b="14527"/>
          <a:stretch>
            <a:fillRect/>
          </a:stretch>
        </p:blipFill>
        <p:spPr bwMode="auto">
          <a:xfrm>
            <a:off x="1583307" y="65638"/>
            <a:ext cx="639775" cy="27799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68" name="96 Imagen"/>
          <p:cNvPicPr/>
          <p:nvPr/>
        </p:nvPicPr>
        <p:blipFill rotWithShape="1">
          <a:blip r:embed="rId8" cstate="print">
            <a:clrChange>
              <a:clrFrom>
                <a:srgbClr val="F8FFEC"/>
              </a:clrFrom>
              <a:clrTo>
                <a:srgbClr val="F8FFEC">
                  <a:alpha val="0"/>
                </a:srgbClr>
              </a:clrTo>
            </a:clrChange>
          </a:blip>
          <a:srcRect l="6378" t="5438" r="5729" b="7596"/>
          <a:stretch/>
        </p:blipFill>
        <p:spPr bwMode="auto">
          <a:xfrm>
            <a:off x="2253381" y="263966"/>
            <a:ext cx="628454" cy="259354"/>
          </a:xfrm>
          <a:prstGeom prst="roundRect">
            <a:avLst>
              <a:gd name="adj" fmla="val 12919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7" name="CuadroTexto 6"/>
          <p:cNvSpPr txBox="1"/>
          <p:nvPr/>
        </p:nvSpPr>
        <p:spPr>
          <a:xfrm>
            <a:off x="8232357" y="6650111"/>
            <a:ext cx="24837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MX" sz="1000" dirty="0"/>
              <a:t>REV:01  DIC 14’ 2016 ER-FO-MJ-GR-05</a:t>
            </a:r>
          </a:p>
        </p:txBody>
      </p:sp>
      <p:sp>
        <p:nvSpPr>
          <p:cNvPr id="5" name="CuadroTexto 4"/>
          <p:cNvSpPr txBox="1"/>
          <p:nvPr/>
        </p:nvSpPr>
        <p:spPr>
          <a:xfrm>
            <a:off x="4266651" y="648013"/>
            <a:ext cx="33706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200" dirty="0">
                <a:solidFill>
                  <a:srgbClr val="41464B"/>
                </a:solidFill>
                <a:latin typeface="system-ui"/>
              </a:rPr>
              <a:t>Punto ciego entre Empastadora #5 y Caseta de SUP</a:t>
            </a:r>
            <a:endParaRPr lang="es-MX" sz="1200" dirty="0"/>
          </a:p>
        </p:txBody>
      </p:sp>
      <p:sp>
        <p:nvSpPr>
          <p:cNvPr id="71" name="CuadroTexto 70"/>
          <p:cNvSpPr txBox="1"/>
          <p:nvPr/>
        </p:nvSpPr>
        <p:spPr>
          <a:xfrm>
            <a:off x="3145361" y="988112"/>
            <a:ext cx="17969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200" b="0" i="0" dirty="0">
                <a:solidFill>
                  <a:srgbClr val="41464B"/>
                </a:solidFill>
                <a:effectLst/>
                <a:latin typeface="system-ui"/>
              </a:rPr>
              <a:t>Romualdo Bernal Moreno</a:t>
            </a:r>
            <a:endParaRPr lang="es-MX" sz="1200" dirty="0"/>
          </a:p>
        </p:txBody>
      </p:sp>
      <p:sp>
        <p:nvSpPr>
          <p:cNvPr id="6" name="CuadroTexto 5"/>
          <p:cNvSpPr txBox="1"/>
          <p:nvPr/>
        </p:nvSpPr>
        <p:spPr>
          <a:xfrm>
            <a:off x="6519594" y="978013"/>
            <a:ext cx="769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b="0" i="0" dirty="0">
                <a:solidFill>
                  <a:srgbClr val="41464B"/>
                </a:solidFill>
                <a:effectLst/>
                <a:latin typeface="system-ui"/>
              </a:rPr>
              <a:t>23055</a:t>
            </a:r>
            <a:endParaRPr lang="es-MX" dirty="0"/>
          </a:p>
        </p:txBody>
      </p:sp>
      <p:sp>
        <p:nvSpPr>
          <p:cNvPr id="72" name="CuadroTexto 71"/>
          <p:cNvSpPr txBox="1"/>
          <p:nvPr/>
        </p:nvSpPr>
        <p:spPr>
          <a:xfrm>
            <a:off x="8484097" y="1018878"/>
            <a:ext cx="84830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100" b="0" i="0" dirty="0">
                <a:solidFill>
                  <a:srgbClr val="41464B"/>
                </a:solidFill>
                <a:effectLst/>
                <a:latin typeface="system-ui"/>
              </a:rPr>
              <a:t>2025-03-01</a:t>
            </a:r>
            <a:endParaRPr lang="es-MX" sz="1100" dirty="0"/>
          </a:p>
        </p:txBody>
      </p:sp>
      <p:sp>
        <p:nvSpPr>
          <p:cNvPr id="73" name="CuadroTexto 72"/>
          <p:cNvSpPr txBox="1"/>
          <p:nvPr/>
        </p:nvSpPr>
        <p:spPr>
          <a:xfrm>
            <a:off x="9624393" y="1018878"/>
            <a:ext cx="104387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100" dirty="0"/>
              <a:t>PLA-017-2025</a:t>
            </a:r>
          </a:p>
        </p:txBody>
      </p:sp>
      <p:sp>
        <p:nvSpPr>
          <p:cNvPr id="74" name="CuadroTexto 73"/>
          <p:cNvSpPr txBox="1"/>
          <p:nvPr/>
        </p:nvSpPr>
        <p:spPr>
          <a:xfrm>
            <a:off x="9676084" y="1425406"/>
            <a:ext cx="88357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100" dirty="0"/>
              <a:t>30/04/2025</a:t>
            </a:r>
          </a:p>
        </p:txBody>
      </p:sp>
      <p:sp>
        <p:nvSpPr>
          <p:cNvPr id="34" name="Rectángulo 33"/>
          <p:cNvSpPr/>
          <p:nvPr/>
        </p:nvSpPr>
        <p:spPr>
          <a:xfrm>
            <a:off x="1703656" y="4114395"/>
            <a:ext cx="198007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1000" b="0" i="0" dirty="0">
                <a:solidFill>
                  <a:srgbClr val="41464B"/>
                </a:solidFill>
                <a:effectLst/>
                <a:latin typeface="system-ui"/>
              </a:rPr>
              <a:t>La sugerencia es colocar un espejo cóncavo para visibilidad. Así ayudara a evitar algún accidente o también un letrero que diga montacargas en circulación o algo así por el estilo.</a:t>
            </a:r>
            <a:endParaRPr lang="es-MX" sz="1000" dirty="0"/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639FD82B-EB24-FA75-68BE-A38CD1DB5EA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611" r="3286" b="34110"/>
          <a:stretch>
            <a:fillRect/>
          </a:stretch>
        </p:blipFill>
        <p:spPr>
          <a:xfrm>
            <a:off x="6275532" y="4665433"/>
            <a:ext cx="2196228" cy="1527420"/>
          </a:xfrm>
          <a:prstGeom prst="rect">
            <a:avLst/>
          </a:prstGeom>
        </p:spPr>
      </p:pic>
      <p:pic>
        <p:nvPicPr>
          <p:cNvPr id="37" name="Imagen 36" descr="Tienda con ventanas grandes&#10;&#10;El contenido generado por IA puede ser incorrecto.">
            <a:extLst>
              <a:ext uri="{FF2B5EF4-FFF2-40B4-BE49-F238E27FC236}">
                <a16:creationId xmlns:a16="http://schemas.microsoft.com/office/drawing/2014/main" id="{6FF38FA7-85B8-4A7A-BB14-579F0CF6679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251" r="34659" b="30905"/>
          <a:stretch>
            <a:fillRect/>
          </a:stretch>
        </p:blipFill>
        <p:spPr>
          <a:xfrm>
            <a:off x="8564823" y="4545664"/>
            <a:ext cx="1872208" cy="1870073"/>
          </a:xfrm>
          <a:prstGeom prst="rect">
            <a:avLst/>
          </a:prstGeom>
        </p:spPr>
      </p:pic>
      <p:pic>
        <p:nvPicPr>
          <p:cNvPr id="15" name="Imagen 14" descr="Una estación de metro&#10;&#10;El contenido generado por IA puede ser incorrecto.">
            <a:extLst>
              <a:ext uri="{FF2B5EF4-FFF2-40B4-BE49-F238E27FC236}">
                <a16:creationId xmlns:a16="http://schemas.microsoft.com/office/drawing/2014/main" id="{2EA21F60-3096-1A9B-2392-B0D8305C83F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6140" y="2392501"/>
            <a:ext cx="1980076" cy="1827835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B4FB5347-38E3-F0C0-D955-8D0871871495}"/>
              </a:ext>
            </a:extLst>
          </p:cNvPr>
          <p:cNvSpPr/>
          <p:nvPr/>
        </p:nvSpPr>
        <p:spPr>
          <a:xfrm>
            <a:off x="7312026" y="4984750"/>
            <a:ext cx="619192" cy="48310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4E8EBBAA-86AA-885D-12EA-2B427C5E8A75}"/>
              </a:ext>
            </a:extLst>
          </p:cNvPr>
          <p:cNvSpPr/>
          <p:nvPr/>
        </p:nvSpPr>
        <p:spPr>
          <a:xfrm>
            <a:off x="9602795" y="5191040"/>
            <a:ext cx="834235" cy="614224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950290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27 Rectángulo"/>
          <p:cNvSpPr/>
          <p:nvPr/>
        </p:nvSpPr>
        <p:spPr>
          <a:xfrm>
            <a:off x="1559496" y="1014636"/>
            <a:ext cx="4536504" cy="39601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11 Rectángulo"/>
          <p:cNvSpPr/>
          <p:nvPr/>
        </p:nvSpPr>
        <p:spPr>
          <a:xfrm>
            <a:off x="1559496" y="620688"/>
            <a:ext cx="5652120" cy="360040"/>
          </a:xfrm>
          <a:prstGeom prst="rect">
            <a:avLst/>
          </a:prstGeom>
          <a:solidFill>
            <a:srgbClr val="C00000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400" b="1" dirty="0">
                <a:latin typeface="Arial" pitchFamily="34" charset="0"/>
                <a:cs typeface="Arial" pitchFamily="34" charset="0"/>
              </a:rPr>
              <a:t>NOMBRE DE LA SUGERENCIA:</a:t>
            </a:r>
          </a:p>
        </p:txBody>
      </p:sp>
      <p:sp>
        <p:nvSpPr>
          <p:cNvPr id="10" name="9 Rectángulo"/>
          <p:cNvSpPr/>
          <p:nvPr/>
        </p:nvSpPr>
        <p:spPr>
          <a:xfrm>
            <a:off x="1559496" y="44624"/>
            <a:ext cx="9071992" cy="50405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10 CuadroTexto"/>
          <p:cNvSpPr txBox="1"/>
          <p:nvPr/>
        </p:nvSpPr>
        <p:spPr>
          <a:xfrm>
            <a:off x="3719232" y="65821"/>
            <a:ext cx="47525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i="1" dirty="0"/>
              <a:t>SUGERENCIAS DE COLABORADORES</a:t>
            </a:r>
          </a:p>
        </p:txBody>
      </p:sp>
      <p:sp>
        <p:nvSpPr>
          <p:cNvPr id="13" name="12 Rectángulo"/>
          <p:cNvSpPr/>
          <p:nvPr/>
        </p:nvSpPr>
        <p:spPr>
          <a:xfrm>
            <a:off x="4367808" y="692696"/>
            <a:ext cx="2772000" cy="2160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9" name="18 Rectángulo"/>
          <p:cNvSpPr/>
          <p:nvPr/>
        </p:nvSpPr>
        <p:spPr>
          <a:xfrm>
            <a:off x="7212632" y="620688"/>
            <a:ext cx="3420000" cy="360040"/>
          </a:xfrm>
          <a:prstGeom prst="rect">
            <a:avLst/>
          </a:prstGeom>
          <a:solidFill>
            <a:schemeClr val="bg1">
              <a:lumMod val="50000"/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 dirty="0">
                <a:latin typeface="Arial" pitchFamily="34" charset="0"/>
                <a:cs typeface="Arial" pitchFamily="34" charset="0"/>
              </a:rPr>
              <a:t>ENERYA - RIASA</a:t>
            </a:r>
          </a:p>
        </p:txBody>
      </p:sp>
      <p:grpSp>
        <p:nvGrpSpPr>
          <p:cNvPr id="5" name="Grupo 4"/>
          <p:cNvGrpSpPr/>
          <p:nvPr/>
        </p:nvGrpSpPr>
        <p:grpSpPr>
          <a:xfrm>
            <a:off x="6168008" y="1039019"/>
            <a:ext cx="4391496" cy="1836128"/>
            <a:chOff x="4644008" y="1124744"/>
            <a:chExt cx="4391496" cy="1836128"/>
          </a:xfrm>
        </p:grpSpPr>
        <p:sp>
          <p:nvSpPr>
            <p:cNvPr id="84" name="83 CuadroTexto"/>
            <p:cNvSpPr txBox="1"/>
            <p:nvPr/>
          </p:nvSpPr>
          <p:spPr>
            <a:xfrm>
              <a:off x="5124073" y="1484784"/>
              <a:ext cx="343136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1400" b="1" dirty="0">
                  <a:solidFill>
                    <a:schemeClr val="bg1"/>
                  </a:solidFill>
                </a:rPr>
                <a:t>¿Cómo y en qué se estandarizará la Mejora?</a:t>
              </a:r>
              <a:endParaRPr lang="es-ES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85" name="84 Rectángulo"/>
            <p:cNvSpPr/>
            <p:nvPr/>
          </p:nvSpPr>
          <p:spPr>
            <a:xfrm>
              <a:off x="4644008" y="1160872"/>
              <a:ext cx="4391496" cy="18000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86" name="85 Rectángulo"/>
            <p:cNvSpPr/>
            <p:nvPr/>
          </p:nvSpPr>
          <p:spPr>
            <a:xfrm>
              <a:off x="4716016" y="1412776"/>
              <a:ext cx="4247640" cy="1476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>
                  <a:solidFill>
                    <a:schemeClr val="tx1"/>
                  </a:solidFill>
                </a:rPr>
                <a:t>No</a:t>
              </a:r>
            </a:p>
          </p:txBody>
        </p:sp>
        <p:sp>
          <p:nvSpPr>
            <p:cNvPr id="87" name="86 CuadroTexto"/>
            <p:cNvSpPr txBox="1"/>
            <p:nvPr/>
          </p:nvSpPr>
          <p:spPr>
            <a:xfrm>
              <a:off x="5124073" y="1124744"/>
              <a:ext cx="343136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1400" b="1" dirty="0">
                  <a:solidFill>
                    <a:schemeClr val="bg1"/>
                  </a:solidFill>
                </a:rPr>
                <a:t>¿Aplica Horizontalidad?</a:t>
              </a:r>
              <a:endParaRPr lang="es-ES" sz="14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" name="Grupo 3"/>
          <p:cNvGrpSpPr/>
          <p:nvPr/>
        </p:nvGrpSpPr>
        <p:grpSpPr>
          <a:xfrm>
            <a:off x="6168008" y="2905995"/>
            <a:ext cx="4391496" cy="1944419"/>
            <a:chOff x="4644008" y="2991465"/>
            <a:chExt cx="4391496" cy="1855833"/>
          </a:xfrm>
        </p:grpSpPr>
        <p:sp>
          <p:nvSpPr>
            <p:cNvPr id="88" name="87 Rectángulo"/>
            <p:cNvSpPr/>
            <p:nvPr/>
          </p:nvSpPr>
          <p:spPr>
            <a:xfrm>
              <a:off x="4644008" y="3011298"/>
              <a:ext cx="4391496" cy="18360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89" name="88 Rectángulo"/>
            <p:cNvSpPr/>
            <p:nvPr/>
          </p:nvSpPr>
          <p:spPr>
            <a:xfrm>
              <a:off x="4716016" y="3299242"/>
              <a:ext cx="4248472" cy="1440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>
                  <a:solidFill>
                    <a:schemeClr val="tx1"/>
                  </a:solidFill>
                </a:rPr>
                <a:t>N/A</a:t>
              </a:r>
            </a:p>
          </p:txBody>
        </p:sp>
        <p:sp>
          <p:nvSpPr>
            <p:cNvPr id="90" name="89 CuadroTexto"/>
            <p:cNvSpPr txBox="1"/>
            <p:nvPr/>
          </p:nvSpPr>
          <p:spPr>
            <a:xfrm>
              <a:off x="4716016" y="2991465"/>
              <a:ext cx="4248472" cy="2937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1400" b="1" dirty="0">
                  <a:solidFill>
                    <a:schemeClr val="bg1"/>
                  </a:solidFill>
                </a:rPr>
                <a:t>En caso de aplicar, mencione en que procesos</a:t>
              </a:r>
              <a:endParaRPr lang="es-ES" sz="14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" name="Grupo 2"/>
          <p:cNvGrpSpPr/>
          <p:nvPr/>
        </p:nvGrpSpPr>
        <p:grpSpPr>
          <a:xfrm>
            <a:off x="6168008" y="4873699"/>
            <a:ext cx="4391496" cy="1767187"/>
            <a:chOff x="4644008" y="4854048"/>
            <a:chExt cx="4391496" cy="1767187"/>
          </a:xfrm>
        </p:grpSpPr>
        <p:sp>
          <p:nvSpPr>
            <p:cNvPr id="91" name="90 Rectángulo"/>
            <p:cNvSpPr/>
            <p:nvPr/>
          </p:nvSpPr>
          <p:spPr>
            <a:xfrm>
              <a:off x="4644008" y="4893043"/>
              <a:ext cx="4391496" cy="1728192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92" name="91 Rectángulo"/>
            <p:cNvSpPr/>
            <p:nvPr/>
          </p:nvSpPr>
          <p:spPr>
            <a:xfrm>
              <a:off x="4716016" y="5161825"/>
              <a:ext cx="4248472" cy="13681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93" name="92 CuadroTexto"/>
            <p:cNvSpPr txBox="1"/>
            <p:nvPr/>
          </p:nvSpPr>
          <p:spPr>
            <a:xfrm>
              <a:off x="4716016" y="4854048"/>
              <a:ext cx="4248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1400" b="1" dirty="0">
                  <a:solidFill>
                    <a:schemeClr val="bg1"/>
                  </a:solidFill>
                </a:rPr>
                <a:t>Lecciones Aprendidas</a:t>
              </a:r>
              <a:endParaRPr lang="es-ES" sz="14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36" name="35 Rectángulo"/>
          <p:cNvSpPr/>
          <p:nvPr/>
        </p:nvSpPr>
        <p:spPr>
          <a:xfrm>
            <a:off x="1559496" y="1014636"/>
            <a:ext cx="4536504" cy="5652000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7" name="36 Rectángulo"/>
          <p:cNvSpPr/>
          <p:nvPr/>
        </p:nvSpPr>
        <p:spPr>
          <a:xfrm>
            <a:off x="6096000" y="1014636"/>
            <a:ext cx="4536504" cy="5652000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39" name="38 Grupo"/>
          <p:cNvGrpSpPr/>
          <p:nvPr/>
        </p:nvGrpSpPr>
        <p:grpSpPr>
          <a:xfrm>
            <a:off x="1631504" y="1027978"/>
            <a:ext cx="2268224" cy="369332"/>
            <a:chOff x="4608032" y="4306438"/>
            <a:chExt cx="2268224" cy="369332"/>
          </a:xfrm>
        </p:grpSpPr>
        <p:sp>
          <p:nvSpPr>
            <p:cNvPr id="40" name="39 Elipse"/>
            <p:cNvSpPr/>
            <p:nvPr/>
          </p:nvSpPr>
          <p:spPr>
            <a:xfrm>
              <a:off x="4896064" y="4365104"/>
              <a:ext cx="252000" cy="25200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 w="28575"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es-MX" b="1" dirty="0">
                  <a:solidFill>
                    <a:srgbClr val="FFFFFF"/>
                  </a:solidFill>
                </a:rPr>
                <a:t>C</a:t>
              </a:r>
            </a:p>
          </p:txBody>
        </p:sp>
        <p:pic>
          <p:nvPicPr>
            <p:cNvPr id="41" name="Imagen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08032" y="4354973"/>
              <a:ext cx="252000" cy="272262"/>
            </a:xfrm>
            <a:prstGeom prst="rect">
              <a:avLst/>
            </a:prstGeom>
          </p:spPr>
        </p:pic>
        <p:sp>
          <p:nvSpPr>
            <p:cNvPr id="42" name="41 CuadroTexto"/>
            <p:cNvSpPr txBox="1"/>
            <p:nvPr/>
          </p:nvSpPr>
          <p:spPr>
            <a:xfrm>
              <a:off x="5148064" y="4306438"/>
              <a:ext cx="17281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b="1" i="1" dirty="0">
                  <a:solidFill>
                    <a:schemeClr val="bg1"/>
                  </a:solidFill>
                </a:rPr>
                <a:t>VERIFICACIÓN</a:t>
              </a:r>
              <a:endParaRPr lang="es-ES" b="1" i="1" dirty="0">
                <a:solidFill>
                  <a:schemeClr val="bg1"/>
                </a:solidFill>
              </a:endParaRPr>
            </a:p>
          </p:txBody>
        </p:sp>
      </p:grpSp>
      <p:sp>
        <p:nvSpPr>
          <p:cNvPr id="43" name="42 Rectángulo"/>
          <p:cNvSpPr/>
          <p:nvPr/>
        </p:nvSpPr>
        <p:spPr>
          <a:xfrm>
            <a:off x="1631504" y="1518692"/>
            <a:ext cx="4392488" cy="3096344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4" name="43 Rectángulo redondeado"/>
          <p:cNvSpPr/>
          <p:nvPr/>
        </p:nvSpPr>
        <p:spPr>
          <a:xfrm>
            <a:off x="2729748" y="1446684"/>
            <a:ext cx="2196000" cy="216024"/>
          </a:xfrm>
          <a:prstGeom prst="roundRect">
            <a:avLst/>
          </a:prstGeom>
          <a:solidFill>
            <a:schemeClr val="tx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/>
              <a:t>INDICADOR DE LA MEJORA</a:t>
            </a:r>
            <a:endParaRPr lang="es-ES" sz="1200" dirty="0"/>
          </a:p>
        </p:txBody>
      </p:sp>
      <p:pic>
        <p:nvPicPr>
          <p:cNvPr id="45" name="Picture 2" descr="C:\Users\agonzalezd.GONHER\AppData\Local\Microsoft\Windows\Temporary Internet Files\Content.Outlook\8IFN941U\Logo_MejoraContinua (3).png"/>
          <p:cNvPicPr>
            <a:picLocks noChangeAspect="1" noChangeArrowheads="1"/>
          </p:cNvPicPr>
          <p:nvPr/>
        </p:nvPicPr>
        <p:blipFill>
          <a:blip r:embed="rId3" cstate="print"/>
          <a:srcRect l="22766" t="7350" r="21542" b="52100"/>
          <a:stretch>
            <a:fillRect/>
          </a:stretch>
        </p:blipFill>
        <p:spPr bwMode="auto">
          <a:xfrm>
            <a:off x="9696400" y="61528"/>
            <a:ext cx="828000" cy="466854"/>
          </a:xfrm>
          <a:prstGeom prst="rect">
            <a:avLst/>
          </a:prstGeom>
          <a:noFill/>
        </p:spPr>
      </p:pic>
      <p:grpSp>
        <p:nvGrpSpPr>
          <p:cNvPr id="56" name="55 Grupo"/>
          <p:cNvGrpSpPr/>
          <p:nvPr/>
        </p:nvGrpSpPr>
        <p:grpSpPr>
          <a:xfrm>
            <a:off x="1559496" y="4687044"/>
            <a:ext cx="4536504" cy="396016"/>
            <a:chOff x="35496" y="4509120"/>
            <a:chExt cx="4536504" cy="396016"/>
          </a:xfrm>
        </p:grpSpPr>
        <p:sp>
          <p:nvSpPr>
            <p:cNvPr id="46" name="45 Rectángulo"/>
            <p:cNvSpPr/>
            <p:nvPr/>
          </p:nvSpPr>
          <p:spPr>
            <a:xfrm>
              <a:off x="35496" y="4509120"/>
              <a:ext cx="4536504" cy="39601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grpSp>
          <p:nvGrpSpPr>
            <p:cNvPr id="49" name="48 Grupo"/>
            <p:cNvGrpSpPr/>
            <p:nvPr/>
          </p:nvGrpSpPr>
          <p:grpSpPr>
            <a:xfrm>
              <a:off x="107504" y="4522462"/>
              <a:ext cx="2592288" cy="369332"/>
              <a:chOff x="2699792" y="1066078"/>
              <a:chExt cx="2592288" cy="369332"/>
            </a:xfrm>
          </p:grpSpPr>
          <p:sp>
            <p:nvSpPr>
              <p:cNvPr id="50" name="49 Elipse"/>
              <p:cNvSpPr/>
              <p:nvPr/>
            </p:nvSpPr>
            <p:spPr>
              <a:xfrm>
                <a:off x="3023856" y="1124744"/>
                <a:ext cx="252000" cy="25200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28575">
                <a:noFill/>
              </a:ln>
              <a:effectLst>
                <a:outerShdw blurRad="107950" dist="12700" dir="5400000" algn="ctr">
                  <a:srgbClr val="000000"/>
                </a:outerShdw>
              </a:effectLst>
              <a:scene3d>
                <a:camera prst="orthographicFront">
                  <a:rot lat="0" lon="0" rev="0"/>
                </a:camera>
                <a:lightRig rig="soft" dir="t">
                  <a:rot lat="0" lon="0" rev="0"/>
                </a:lightRig>
              </a:scene3d>
              <a:sp3d contourW="44450" prstMaterial="matte">
                <a:bevelT w="63500" h="63500" prst="artDeco"/>
                <a:contourClr>
                  <a:srgbClr val="FFFFFF"/>
                </a:contourClr>
              </a:sp3d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r>
                  <a:rPr lang="es-MX" b="1" dirty="0">
                    <a:solidFill>
                      <a:srgbClr val="FFFFFF"/>
                    </a:solidFill>
                  </a:rPr>
                  <a:t>A</a:t>
                </a:r>
              </a:p>
            </p:txBody>
          </p:sp>
          <p:pic>
            <p:nvPicPr>
              <p:cNvPr id="51" name="Imagen 13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2699792" y="1104816"/>
                <a:ext cx="216000" cy="291857"/>
              </a:xfrm>
              <a:prstGeom prst="rect">
                <a:avLst/>
              </a:prstGeom>
            </p:spPr>
          </p:pic>
          <p:sp>
            <p:nvSpPr>
              <p:cNvPr id="52" name="51 CuadroTexto"/>
              <p:cNvSpPr txBox="1"/>
              <p:nvPr/>
            </p:nvSpPr>
            <p:spPr>
              <a:xfrm>
                <a:off x="3275856" y="1066078"/>
                <a:ext cx="20162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MX" b="1" i="1" dirty="0">
                    <a:solidFill>
                      <a:schemeClr val="bg1"/>
                    </a:solidFill>
                  </a:rPr>
                  <a:t>ESTANDARIZACIÓN</a:t>
                </a:r>
                <a:endParaRPr lang="es-ES" b="1" i="1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2" name="Grupo 1"/>
          <p:cNvGrpSpPr/>
          <p:nvPr/>
        </p:nvGrpSpPr>
        <p:grpSpPr>
          <a:xfrm>
            <a:off x="1632496" y="5128717"/>
            <a:ext cx="4391496" cy="1512168"/>
            <a:chOff x="108496" y="5147567"/>
            <a:chExt cx="4391496" cy="1512168"/>
          </a:xfrm>
        </p:grpSpPr>
        <p:sp>
          <p:nvSpPr>
            <p:cNvPr id="53" name="52 Rectángulo"/>
            <p:cNvSpPr/>
            <p:nvPr/>
          </p:nvSpPr>
          <p:spPr>
            <a:xfrm>
              <a:off x="108496" y="5147567"/>
              <a:ext cx="4391496" cy="1512168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4" name="53 Rectángulo"/>
            <p:cNvSpPr/>
            <p:nvPr/>
          </p:nvSpPr>
          <p:spPr>
            <a:xfrm>
              <a:off x="180504" y="5507607"/>
              <a:ext cx="4248472" cy="10801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>
                  <a:solidFill>
                    <a:schemeClr val="tx1"/>
                  </a:solidFill>
                </a:rPr>
                <a:t>N/A</a:t>
              </a:r>
            </a:p>
          </p:txBody>
        </p:sp>
        <p:sp>
          <p:nvSpPr>
            <p:cNvPr id="55" name="54 CuadroTexto"/>
            <p:cNvSpPr txBox="1"/>
            <p:nvPr/>
          </p:nvSpPr>
          <p:spPr>
            <a:xfrm>
              <a:off x="588561" y="5147567"/>
              <a:ext cx="343136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1400" b="1" dirty="0">
                  <a:solidFill>
                    <a:schemeClr val="bg1"/>
                  </a:solidFill>
                </a:rPr>
                <a:t>¿Cómo y en qué se estandarizará la Mejora?</a:t>
              </a:r>
              <a:endParaRPr lang="es-ES" sz="1400" b="1" dirty="0">
                <a:solidFill>
                  <a:schemeClr val="bg1"/>
                </a:solidFill>
              </a:endParaRPr>
            </a:p>
          </p:txBody>
        </p:sp>
      </p:grpSp>
      <p:pic>
        <p:nvPicPr>
          <p:cNvPr id="38" name="5 Imagen" descr="C:\Mis documentos\Mis imágenes\Dibujo.bmp"/>
          <p:cNvPicPr/>
          <p:nvPr/>
        </p:nvPicPr>
        <p:blipFill>
          <a:blip r:embed="rId5" r:link="rId6" cstate="print"/>
          <a:srcRect t="9990" b="14527"/>
          <a:stretch>
            <a:fillRect/>
          </a:stretch>
        </p:blipFill>
        <p:spPr bwMode="auto">
          <a:xfrm>
            <a:off x="1583307" y="65638"/>
            <a:ext cx="639775" cy="27799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57" name="96 Imagen"/>
          <p:cNvPicPr/>
          <p:nvPr/>
        </p:nvPicPr>
        <p:blipFill rotWithShape="1">
          <a:blip r:embed="rId7" cstate="print">
            <a:clrChange>
              <a:clrFrom>
                <a:srgbClr val="F8FFEC"/>
              </a:clrFrom>
              <a:clrTo>
                <a:srgbClr val="F8FFEC">
                  <a:alpha val="0"/>
                </a:srgbClr>
              </a:clrTo>
            </a:clrChange>
          </a:blip>
          <a:srcRect l="6378" t="5438" r="5729" b="7596"/>
          <a:stretch/>
        </p:blipFill>
        <p:spPr bwMode="auto">
          <a:xfrm>
            <a:off x="2253381" y="263966"/>
            <a:ext cx="628454" cy="259354"/>
          </a:xfrm>
          <a:prstGeom prst="roundRect">
            <a:avLst>
              <a:gd name="adj" fmla="val 12919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58" name="CuadroTexto 57"/>
          <p:cNvSpPr txBox="1"/>
          <p:nvPr/>
        </p:nvSpPr>
        <p:spPr>
          <a:xfrm>
            <a:off x="8232357" y="6650111"/>
            <a:ext cx="24837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MX" sz="1000" dirty="0"/>
              <a:t>REV:01  DIC 14’ 2016 ER-FO-MJ-GR-05</a:t>
            </a:r>
          </a:p>
        </p:txBody>
      </p:sp>
      <p:sp>
        <p:nvSpPr>
          <p:cNvPr id="6" name="Rectángulo 5"/>
          <p:cNvSpPr/>
          <p:nvPr/>
        </p:nvSpPr>
        <p:spPr>
          <a:xfrm>
            <a:off x="6244952" y="5233670"/>
            <a:ext cx="409952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MX" sz="1200" dirty="0"/>
              <a:t>En áreas con tránsito mixto de personas y montacargas, es clave identificar puntos ciegos y tomar acciones. A veces una buena señalización es suficiente para prevenir accidentes si se coloca en el lugar correcto y es clara para el personal.</a:t>
            </a:r>
            <a:endParaRPr lang="es-ES" sz="12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255910C9-A2CA-65CF-E14B-29861EF3F011}"/>
              </a:ext>
            </a:extLst>
          </p:cNvPr>
          <p:cNvSpPr txBox="1"/>
          <p:nvPr/>
        </p:nvSpPr>
        <p:spPr>
          <a:xfrm>
            <a:off x="4511824" y="647007"/>
            <a:ext cx="24416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200" dirty="0">
                <a:solidFill>
                  <a:srgbClr val="41464B"/>
                </a:solidFill>
                <a:latin typeface="system-ui"/>
              </a:rPr>
              <a:t>Marcado de rejilla para identificar</a:t>
            </a:r>
            <a:endParaRPr lang="es-MX" sz="1200" dirty="0"/>
          </a:p>
        </p:txBody>
      </p:sp>
      <p:sp>
        <p:nvSpPr>
          <p:cNvPr id="7" name="11 Rectángulo">
            <a:extLst>
              <a:ext uri="{FF2B5EF4-FFF2-40B4-BE49-F238E27FC236}">
                <a16:creationId xmlns:a16="http://schemas.microsoft.com/office/drawing/2014/main" id="{20D7D683-F44A-FBDF-91C7-4F5AF1BAE3A2}"/>
              </a:ext>
            </a:extLst>
          </p:cNvPr>
          <p:cNvSpPr/>
          <p:nvPr/>
        </p:nvSpPr>
        <p:spPr>
          <a:xfrm>
            <a:off x="1559496" y="620688"/>
            <a:ext cx="5652120" cy="360040"/>
          </a:xfrm>
          <a:prstGeom prst="rect">
            <a:avLst/>
          </a:prstGeom>
          <a:solidFill>
            <a:srgbClr val="C00000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400" b="1" dirty="0">
                <a:latin typeface="Arial" pitchFamily="34" charset="0"/>
                <a:cs typeface="Arial" pitchFamily="34" charset="0"/>
              </a:rPr>
              <a:t>NOMBRE DE LA SUGERENCIA:</a:t>
            </a:r>
          </a:p>
        </p:txBody>
      </p:sp>
      <p:sp>
        <p:nvSpPr>
          <p:cNvPr id="14" name="12 Rectángulo">
            <a:extLst>
              <a:ext uri="{FF2B5EF4-FFF2-40B4-BE49-F238E27FC236}">
                <a16:creationId xmlns:a16="http://schemas.microsoft.com/office/drawing/2014/main" id="{31C5718E-A7AC-832D-0E0B-82936CD31163}"/>
              </a:ext>
            </a:extLst>
          </p:cNvPr>
          <p:cNvSpPr/>
          <p:nvPr/>
        </p:nvSpPr>
        <p:spPr>
          <a:xfrm>
            <a:off x="4367808" y="692696"/>
            <a:ext cx="2772000" cy="2160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18 Rectángulo">
            <a:extLst>
              <a:ext uri="{FF2B5EF4-FFF2-40B4-BE49-F238E27FC236}">
                <a16:creationId xmlns:a16="http://schemas.microsoft.com/office/drawing/2014/main" id="{AB59F909-D1DB-91D3-99CE-90CBAD77B629}"/>
              </a:ext>
            </a:extLst>
          </p:cNvPr>
          <p:cNvSpPr/>
          <p:nvPr/>
        </p:nvSpPr>
        <p:spPr>
          <a:xfrm>
            <a:off x="7212632" y="620688"/>
            <a:ext cx="3420000" cy="360040"/>
          </a:xfrm>
          <a:prstGeom prst="rect">
            <a:avLst/>
          </a:prstGeom>
          <a:solidFill>
            <a:schemeClr val="bg1">
              <a:lumMod val="50000"/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 dirty="0">
                <a:latin typeface="Arial" pitchFamily="34" charset="0"/>
                <a:cs typeface="Arial" pitchFamily="34" charset="0"/>
              </a:rPr>
              <a:t>ENERYA - RIASA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92EB7070-8D73-8491-66A7-05AA06A48B8F}"/>
              </a:ext>
            </a:extLst>
          </p:cNvPr>
          <p:cNvSpPr txBox="1"/>
          <p:nvPr/>
        </p:nvSpPr>
        <p:spPr>
          <a:xfrm>
            <a:off x="4511824" y="647007"/>
            <a:ext cx="21156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200" dirty="0">
                <a:solidFill>
                  <a:srgbClr val="41464B"/>
                </a:solidFill>
                <a:latin typeface="system-ui"/>
              </a:rPr>
              <a:t>Banco para Operador de Rejilla</a:t>
            </a:r>
            <a:endParaRPr lang="es-MX" sz="1200" dirty="0"/>
          </a:p>
        </p:txBody>
      </p:sp>
      <p:sp>
        <p:nvSpPr>
          <p:cNvPr id="17" name="11 Rectángulo">
            <a:extLst>
              <a:ext uri="{FF2B5EF4-FFF2-40B4-BE49-F238E27FC236}">
                <a16:creationId xmlns:a16="http://schemas.microsoft.com/office/drawing/2014/main" id="{052D5164-3126-897D-4DD5-F7A91859F664}"/>
              </a:ext>
            </a:extLst>
          </p:cNvPr>
          <p:cNvSpPr/>
          <p:nvPr/>
        </p:nvSpPr>
        <p:spPr>
          <a:xfrm>
            <a:off x="1559496" y="620688"/>
            <a:ext cx="5652120" cy="360040"/>
          </a:xfrm>
          <a:prstGeom prst="rect">
            <a:avLst/>
          </a:prstGeom>
          <a:solidFill>
            <a:srgbClr val="C00000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400" b="1" dirty="0">
                <a:latin typeface="Arial" pitchFamily="34" charset="0"/>
                <a:cs typeface="Arial" pitchFamily="34" charset="0"/>
              </a:rPr>
              <a:t>NOMBRE DE LA SUGERENCIA:</a:t>
            </a:r>
          </a:p>
        </p:txBody>
      </p:sp>
      <p:sp>
        <p:nvSpPr>
          <p:cNvPr id="18" name="12 Rectángulo">
            <a:extLst>
              <a:ext uri="{FF2B5EF4-FFF2-40B4-BE49-F238E27FC236}">
                <a16:creationId xmlns:a16="http://schemas.microsoft.com/office/drawing/2014/main" id="{77319B7C-58A4-D82D-A8B3-0D5C70F765B8}"/>
              </a:ext>
            </a:extLst>
          </p:cNvPr>
          <p:cNvSpPr/>
          <p:nvPr/>
        </p:nvSpPr>
        <p:spPr>
          <a:xfrm>
            <a:off x="4367808" y="692696"/>
            <a:ext cx="2772000" cy="2160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A98E6D4-700C-AE3C-4892-4B9B06B2FD0F}"/>
              </a:ext>
            </a:extLst>
          </p:cNvPr>
          <p:cNvSpPr txBox="1"/>
          <p:nvPr/>
        </p:nvSpPr>
        <p:spPr>
          <a:xfrm>
            <a:off x="4511824" y="647007"/>
            <a:ext cx="22255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200" dirty="0">
                <a:solidFill>
                  <a:srgbClr val="41464B"/>
                </a:solidFill>
                <a:latin typeface="system-ui"/>
              </a:rPr>
              <a:t>Tinas y área para tina P/Limpieza</a:t>
            </a:r>
            <a:endParaRPr lang="es-MX" sz="1200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4FD0277D-8B8A-DA63-BEAF-3FB5E9ADF206}"/>
              </a:ext>
            </a:extLst>
          </p:cNvPr>
          <p:cNvSpPr txBox="1"/>
          <p:nvPr/>
        </p:nvSpPr>
        <p:spPr>
          <a:xfrm>
            <a:off x="1909932" y="1855581"/>
            <a:ext cx="383563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Entre la empastadora 5 y la caseta del supervisor hay un punto ciego donde transita mucho personal. Aunque no se colocó un espejo, se señalizó el cruce para advertir sobre la circulación de montacargas. Esto ayuda a prevenir accidentes al hacer visible el riesgo para los peatones que pasan por ahí.</a:t>
            </a:r>
          </a:p>
        </p:txBody>
      </p:sp>
    </p:spTree>
    <p:extLst>
      <p:ext uri="{BB962C8B-B14F-4D97-AF65-F5344CB8AC3E}">
        <p14:creationId xmlns:p14="http://schemas.microsoft.com/office/powerpoint/2010/main" val="233528414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305</TotalTime>
  <Words>383</Words>
  <Application>Microsoft Office PowerPoint</Application>
  <PresentationFormat>Panorámica</PresentationFormat>
  <Paragraphs>64</Paragraphs>
  <Slides>2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system-ui</vt:lpstr>
      <vt:lpstr>Tema de Office</vt:lpstr>
      <vt:lpstr>Presentación de PowerPoint</vt:lpstr>
      <vt:lpstr>Presentación de PowerPoint</vt:lpstr>
    </vt:vector>
  </TitlesOfParts>
  <Company>Enerya S.A de C.V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Jorge Luis Castelar Bernal</dc:creator>
  <cp:lastModifiedBy>Jorge Luis Castelar Bernal</cp:lastModifiedBy>
  <cp:revision>8</cp:revision>
  <dcterms:created xsi:type="dcterms:W3CDTF">2025-05-15T14:48:24Z</dcterms:created>
  <dcterms:modified xsi:type="dcterms:W3CDTF">2025-06-11T21:27:14Z</dcterms:modified>
</cp:coreProperties>
</file>