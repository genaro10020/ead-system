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  <p:sldMasterId id="2147483780" r:id="rId5"/>
  </p:sldMasterIdLst>
  <p:notesMasterIdLst>
    <p:notesMasterId r:id="rId17"/>
  </p:notesMasterIdLst>
  <p:handoutMasterIdLst>
    <p:handoutMasterId r:id="rId18"/>
  </p:handoutMasterIdLst>
  <p:sldIdLst>
    <p:sldId id="327" r:id="rId6"/>
    <p:sldId id="358" r:id="rId7"/>
    <p:sldId id="303" r:id="rId8"/>
    <p:sldId id="304" r:id="rId9"/>
    <p:sldId id="359" r:id="rId10"/>
    <p:sldId id="332" r:id="rId11"/>
    <p:sldId id="355" r:id="rId12"/>
    <p:sldId id="333" r:id="rId13"/>
    <p:sldId id="360" r:id="rId14"/>
    <p:sldId id="356" r:id="rId15"/>
    <p:sldId id="357" r:id="rId16"/>
  </p:sldIdLst>
  <p:sldSz cx="6858000" cy="9144000" type="letter"/>
  <p:notesSz cx="6797675" cy="9926638"/>
  <p:defaultTextStyle>
    <a:defPPr>
      <a:defRPr lang="es-ES_tradnl"/>
    </a:defPPr>
    <a:lvl1pPr algn="l" rtl="0" fontAlgn="base">
      <a:spcBef>
        <a:spcPct val="0"/>
      </a:spcBef>
      <a:spcAft>
        <a:spcPct val="0"/>
      </a:spcAft>
      <a:defRPr sz="1600" i="1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i="1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i="1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i="1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i="1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600" i="1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1600" i="1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1600" i="1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1600" i="1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uricio Zul Acevedo" initials="MZA" lastIdx="1" clrIdx="0">
    <p:extLst>
      <p:ext uri="{19B8F6BF-5375-455C-9EA6-DF929625EA0E}">
        <p15:presenceInfo xmlns:p15="http://schemas.microsoft.com/office/powerpoint/2012/main" userId="S-1-5-21-3743028793-149173197-2538818633-1540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FFFF"/>
    <a:srgbClr val="FF0000"/>
    <a:srgbClr val="CCECFF"/>
    <a:srgbClr val="990033"/>
    <a:srgbClr val="99FFCC"/>
    <a:srgbClr val="00CCCC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Estilo o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4" autoAdjust="0"/>
    <p:restoredTop sz="92362" autoAdjust="0"/>
  </p:normalViewPr>
  <p:slideViewPr>
    <p:cSldViewPr>
      <p:cViewPr varScale="1">
        <p:scale>
          <a:sx n="61" d="100"/>
          <a:sy n="61" d="100"/>
        </p:scale>
        <p:origin x="2376" y="53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90" d="100"/>
          <a:sy n="90" d="100"/>
        </p:scale>
        <p:origin x="-1866" y="-72"/>
      </p:cViewPr>
      <p:guideLst>
        <p:guide orient="horz" pos="3127"/>
        <p:guide pos="214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04098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74" y="18648"/>
            <a:ext cx="2947233" cy="496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FontTx/>
              <a:buNone/>
              <a:defRPr sz="10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_tradnl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016" y="18648"/>
            <a:ext cx="2947233" cy="496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FontTx/>
              <a:buNone/>
              <a:defRPr sz="10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_tradnl" dirty="0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017713" y="769938"/>
            <a:ext cx="2765425" cy="36893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357" y="4714137"/>
            <a:ext cx="4984962" cy="4449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noProof="0" dirty="0" smtClean="0"/>
              <a:t>Haga clic para modificar el estilo de texto patrón</a:t>
            </a:r>
          </a:p>
          <a:p>
            <a:pPr lvl="1"/>
            <a:r>
              <a:rPr lang="es-ES_tradnl" noProof="0" dirty="0" smtClean="0"/>
              <a:t>Segundo nivel</a:t>
            </a:r>
          </a:p>
          <a:p>
            <a:pPr lvl="2"/>
            <a:r>
              <a:rPr lang="es-ES_tradnl" noProof="0" dirty="0" smtClean="0"/>
              <a:t>Tercer nivel</a:t>
            </a:r>
          </a:p>
          <a:p>
            <a:pPr lvl="3"/>
            <a:r>
              <a:rPr lang="es-ES_tradnl" noProof="0" dirty="0" smtClean="0"/>
              <a:t>Cuarto nivel</a:t>
            </a:r>
          </a:p>
          <a:p>
            <a:pPr lvl="4"/>
            <a:r>
              <a:rPr lang="es-ES_tradnl" noProof="0" dirty="0" smtClean="0"/>
              <a:t>Quinto nivel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1574" y="9409627"/>
            <a:ext cx="2947233" cy="496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FontTx/>
              <a:buNone/>
              <a:defRPr sz="10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_tradnl" dirty="0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016" y="9409627"/>
            <a:ext cx="2947233" cy="496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ctr" eaLnBrk="0" hangingPunct="0">
              <a:spcBef>
                <a:spcPct val="0"/>
              </a:spcBef>
              <a:buFontTx/>
              <a:buNone/>
              <a:defRPr sz="10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9022152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205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MX" dirty="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331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205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MX" dirty="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554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205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MX" dirty="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541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205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MX" dirty="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885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205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MX" dirty="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467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205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MX" dirty="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639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205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MX" dirty="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711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205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MX" dirty="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6661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205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MX" dirty="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864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205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MX" dirty="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251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14350" y="8331200"/>
            <a:ext cx="1428750" cy="609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343150" y="8331200"/>
            <a:ext cx="2171700" cy="609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914900" y="8331200"/>
            <a:ext cx="1428750" cy="609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56D7DD-FCD4-4C08-A9E0-C477529F7187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  <p:graphicFrame>
        <p:nvGraphicFramePr>
          <p:cNvPr id="8" name="7 Tabla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32141482"/>
              </p:ext>
            </p:extLst>
          </p:nvPr>
        </p:nvGraphicFramePr>
        <p:xfrm>
          <a:off x="3357563" y="1547140"/>
          <a:ext cx="3059833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9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9357">
                <a:tc>
                  <a:txBody>
                    <a:bodyPr/>
                    <a:lstStyle/>
                    <a:p>
                      <a:r>
                        <a:rPr lang="es-ES" sz="10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Elaboró:</a:t>
                      </a:r>
                    </a:p>
                    <a:p>
                      <a:r>
                        <a:rPr lang="es-ES" sz="1000" b="1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Ingeniero</a:t>
                      </a:r>
                      <a:r>
                        <a:rPr lang="es-ES" sz="1000" b="1" baseline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de Entrenamiento Inyección</a:t>
                      </a:r>
                      <a:endParaRPr lang="es-ES" sz="10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536">
                <a:tc>
                  <a:txBody>
                    <a:bodyPr/>
                    <a:lstStyle/>
                    <a:p>
                      <a:r>
                        <a:rPr lang="es-ES" sz="10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Elaboró:</a:t>
                      </a:r>
                    </a:p>
                    <a:p>
                      <a:r>
                        <a:rPr lang="es-ES" sz="1000" b="1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Ingeniero</a:t>
                      </a:r>
                      <a:r>
                        <a:rPr lang="es-ES" sz="1000" b="1" baseline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de Procesos Inyección</a:t>
                      </a:r>
                      <a:endParaRPr lang="es-ES" sz="1000" b="1" dirty="0" smtClean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536">
                <a:tc>
                  <a:txBody>
                    <a:bodyPr/>
                    <a:lstStyle/>
                    <a:p>
                      <a:r>
                        <a:rPr lang="es-ES" sz="10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Aprobado por:</a:t>
                      </a:r>
                    </a:p>
                    <a:p>
                      <a:r>
                        <a:rPr lang="es-ES" sz="10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Gerente</a:t>
                      </a:r>
                      <a:r>
                        <a:rPr lang="es-ES" sz="1000" b="0" baseline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Producción Riasa</a:t>
                      </a:r>
                      <a:endParaRPr lang="es-ES" sz="1000" b="0" dirty="0" smtClean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14350" y="812800"/>
            <a:ext cx="5829300" cy="1524000"/>
          </a:xfrm>
          <a:prstGeom prst="rect">
            <a:avLst/>
          </a:prstGeom>
        </p:spPr>
        <p:txBody>
          <a:bodyPr/>
          <a:lstStyle/>
          <a:p>
            <a:r>
              <a:rPr lang="es-ES" dirty="0" smtClean="0"/>
              <a:t>Haga clic para modificar el estilo de título del patrón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14350" y="2641600"/>
            <a:ext cx="5829300" cy="5486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14350" y="8331200"/>
            <a:ext cx="142875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343150" y="8331200"/>
            <a:ext cx="217170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914900" y="8331200"/>
            <a:ext cx="142875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857460-4EB1-41A0-A017-108D16FF52F8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338" y="3875089"/>
            <a:ext cx="5829300" cy="20002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14350" y="8331200"/>
            <a:ext cx="142875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343150" y="8331200"/>
            <a:ext cx="217170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914900" y="8331200"/>
            <a:ext cx="142875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864422-FFF5-47DA-BC39-6EEF79069D56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14350" y="812800"/>
            <a:ext cx="5829300" cy="1524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514350" y="2641600"/>
            <a:ext cx="2838450" cy="54864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505200" y="2641600"/>
            <a:ext cx="2838450" cy="54864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14350" y="8331200"/>
            <a:ext cx="142875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343150" y="8331200"/>
            <a:ext cx="217170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914900" y="8331200"/>
            <a:ext cx="142875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B3997A-6368-4C1C-B492-C3DD05C43C1D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6714"/>
            <a:ext cx="6172200" cy="152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4565" y="2046288"/>
            <a:ext cx="3030537" cy="8540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4565" y="2900363"/>
            <a:ext cx="3030537" cy="52673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14350" y="8331200"/>
            <a:ext cx="142875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343150" y="8331200"/>
            <a:ext cx="217170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914900" y="8331200"/>
            <a:ext cx="142875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4F50EC-A0F1-4983-949D-71FCFD736806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14350" y="812800"/>
            <a:ext cx="5829300" cy="1524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14350" y="8331200"/>
            <a:ext cx="142875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343150" y="8331200"/>
            <a:ext cx="217170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914900" y="8331200"/>
            <a:ext cx="142875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64085C-0845-44C6-BF48-7E95E9818297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14350" y="8331200"/>
            <a:ext cx="142875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343150" y="8331200"/>
            <a:ext cx="217170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914900" y="8331200"/>
            <a:ext cx="142875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04EDF3-3672-4BFE-85F9-8D973476C0AC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14350" y="8331200"/>
            <a:ext cx="142875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343150" y="8331200"/>
            <a:ext cx="217170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914900" y="8331200"/>
            <a:ext cx="142875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7D6A84-9299-4C04-A625-CC9E84C32EF5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MX" noProof="0" dirty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14350" y="8331200"/>
            <a:ext cx="142875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343150" y="8331200"/>
            <a:ext cx="217170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914900" y="8331200"/>
            <a:ext cx="142875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6D8151-F9F2-4CFC-A1BD-BAD4DC593AFE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14350" y="812800"/>
            <a:ext cx="5829300" cy="1524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14350" y="2641600"/>
            <a:ext cx="5829300" cy="5486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14350" y="8331200"/>
            <a:ext cx="142875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343150" y="8331200"/>
            <a:ext cx="217170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914900" y="8331200"/>
            <a:ext cx="142875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5F152C-8144-4C1B-80D5-CB07E1D179B8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4886327" y="812800"/>
            <a:ext cx="1457325" cy="7315200"/>
          </a:xfrm>
          <a:prstGeom prst="rect">
            <a:avLst/>
          </a:prstGeo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14352" y="812800"/>
            <a:ext cx="4219575" cy="7315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14350" y="8331200"/>
            <a:ext cx="142875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343150" y="8331200"/>
            <a:ext cx="217170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914900" y="8331200"/>
            <a:ext cx="1428750" cy="609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DA055-5CFE-4B84-B089-4FAE814C1673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57250" y="1497013"/>
            <a:ext cx="5143500" cy="318293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57250" y="4802188"/>
            <a:ext cx="5143500" cy="220821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6363-5592-4139-A2F0-B78B5A62E9AA}" type="datetimeFigureOut">
              <a:rPr lang="es-ES" smtClean="0"/>
              <a:pPr/>
              <a:t>14/10/2019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08A12-3888-42B4-9604-51F377EF28FE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45950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6363-5592-4139-A2F0-B78B5A62E9AA}" type="datetimeFigureOut">
              <a:rPr lang="es-ES" smtClean="0"/>
              <a:pPr/>
              <a:t>14/10/2019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08A12-3888-42B4-9604-51F377EF28FE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590232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313" y="2279650"/>
            <a:ext cx="5915025" cy="38036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68313" y="6119813"/>
            <a:ext cx="5915025" cy="200025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6363-5592-4139-A2F0-B78B5A62E9AA}" type="datetimeFigureOut">
              <a:rPr lang="es-ES" smtClean="0"/>
              <a:pPr/>
              <a:t>14/10/2019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08A12-3888-42B4-9604-51F377EF28FE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91820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71488" y="2433638"/>
            <a:ext cx="2881312" cy="580231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3505200" y="2433638"/>
            <a:ext cx="2881313" cy="580231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6363-5592-4139-A2F0-B78B5A62E9AA}" type="datetimeFigureOut">
              <a:rPr lang="es-ES" smtClean="0"/>
              <a:pPr/>
              <a:t>14/10/2019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08A12-3888-42B4-9604-51F377EF28FE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98011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3075" y="487363"/>
            <a:ext cx="5915025" cy="176688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73075" y="2241550"/>
            <a:ext cx="2900363" cy="10985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73075" y="3340100"/>
            <a:ext cx="2900363" cy="491331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3471863" y="2241550"/>
            <a:ext cx="2916237" cy="10985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6237" cy="491331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6363-5592-4139-A2F0-B78B5A62E9AA}" type="datetimeFigureOut">
              <a:rPr lang="es-ES" smtClean="0"/>
              <a:pPr/>
              <a:t>14/10/2019</a:t>
            </a:fld>
            <a:endParaRPr lang="es-ES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08A12-3888-42B4-9604-51F377EF28FE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265043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6363-5592-4139-A2F0-B78B5A62E9AA}" type="datetimeFigureOut">
              <a:rPr lang="es-ES" smtClean="0"/>
              <a:pPr/>
              <a:t>14/10/2019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08A12-3888-42B4-9604-51F377EF28FE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187027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6363-5592-4139-A2F0-B78B5A62E9AA}" type="datetimeFigureOut">
              <a:rPr lang="es-ES" smtClean="0"/>
              <a:pPr/>
              <a:t>14/10/2019</a:t>
            </a:fld>
            <a:endParaRPr lang="es-ES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08A12-3888-42B4-9604-51F377EF28FE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568522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3075" y="609600"/>
            <a:ext cx="221138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916238" y="1316038"/>
            <a:ext cx="3471862" cy="64992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73075" y="2743200"/>
            <a:ext cx="2211388" cy="508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6363-5592-4139-A2F0-B78B5A62E9AA}" type="datetimeFigureOut">
              <a:rPr lang="es-ES" smtClean="0"/>
              <a:pPr/>
              <a:t>14/10/2019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08A12-3888-42B4-9604-51F377EF28FE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556045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3075" y="609600"/>
            <a:ext cx="221138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916238" y="1316038"/>
            <a:ext cx="3471862" cy="64992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73075" y="2743200"/>
            <a:ext cx="2211388" cy="508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6363-5592-4139-A2F0-B78B5A62E9AA}" type="datetimeFigureOut">
              <a:rPr lang="es-ES" smtClean="0"/>
              <a:pPr/>
              <a:t>14/10/2019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08A12-3888-42B4-9604-51F377EF28FE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385448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6363-5592-4139-A2F0-B78B5A62E9AA}" type="datetimeFigureOut">
              <a:rPr lang="es-ES" smtClean="0"/>
              <a:pPr/>
              <a:t>14/10/2019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08A12-3888-42B4-9604-51F377EF28FE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151731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08550" y="487363"/>
            <a:ext cx="1477963" cy="774858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71488" y="487363"/>
            <a:ext cx="4284662" cy="7748587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6363-5592-4139-A2F0-B78B5A62E9AA}" type="datetimeFigureOut">
              <a:rPr lang="es-ES" smtClean="0"/>
              <a:pPr/>
              <a:t>14/10/2019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08A12-3888-42B4-9604-51F377EF28FE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44676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7 Tabla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44218673"/>
              </p:ext>
            </p:extLst>
          </p:nvPr>
        </p:nvGraphicFramePr>
        <p:xfrm>
          <a:off x="3357563" y="827088"/>
          <a:ext cx="3059832" cy="72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9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9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036">
                <a:tc>
                  <a:txBody>
                    <a:bodyPr/>
                    <a:lstStyle/>
                    <a:p>
                      <a:r>
                        <a:rPr lang="es-ES" sz="10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Código: R-ME-IP-IN-01</a:t>
                      </a:r>
                      <a:endParaRPr lang="es-ES" sz="10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Página:</a:t>
                      </a:r>
                      <a:r>
                        <a:rPr lang="es-ES" sz="1000" b="0" baseline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     </a:t>
                      </a:r>
                      <a:r>
                        <a:rPr lang="es-ES" sz="10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de  26</a:t>
                      </a:r>
                      <a:endParaRPr lang="es-ES" sz="10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r>
                        <a:rPr lang="es-ES" sz="10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Fecha de</a:t>
                      </a:r>
                      <a:r>
                        <a:rPr lang="es-ES" sz="1000" b="0" baseline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emisión: </a:t>
                      </a:r>
                      <a:br>
                        <a:rPr lang="es-ES" sz="1000" b="0" baseline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</a:br>
                      <a:r>
                        <a:rPr lang="es-ES" sz="1000" b="0" baseline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06/09/2018</a:t>
                      </a:r>
                      <a:endParaRPr lang="es-ES" sz="10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Fecha Rev.: 06/09/2018</a:t>
                      </a:r>
                    </a:p>
                    <a:p>
                      <a:r>
                        <a:rPr lang="es-ES" sz="10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No.</a:t>
                      </a:r>
                      <a:r>
                        <a:rPr lang="es-ES" sz="1000" b="0" baseline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Rev.: 00</a:t>
                      </a:r>
                      <a:endParaRPr lang="es-ES" sz="10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1" name="27 Conector recto"/>
          <p:cNvCxnSpPr>
            <a:cxnSpLocks noChangeShapeType="1"/>
          </p:cNvCxnSpPr>
          <p:nvPr userDrawn="1"/>
        </p:nvCxnSpPr>
        <p:spPr bwMode="auto">
          <a:xfrm>
            <a:off x="549275" y="684213"/>
            <a:ext cx="5903913" cy="0"/>
          </a:xfrm>
          <a:prstGeom prst="line">
            <a:avLst/>
          </a:prstGeom>
          <a:noFill/>
          <a:ln w="38100" cmpd="thinThick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2" name="29 Conector recto"/>
          <p:cNvCxnSpPr>
            <a:cxnSpLocks noChangeShapeType="1"/>
          </p:cNvCxnSpPr>
          <p:nvPr userDrawn="1"/>
        </p:nvCxnSpPr>
        <p:spPr bwMode="auto">
          <a:xfrm>
            <a:off x="549275" y="8757465"/>
            <a:ext cx="5903913" cy="0"/>
          </a:xfrm>
          <a:prstGeom prst="line">
            <a:avLst/>
          </a:prstGeom>
          <a:noFill/>
          <a:ln w="38100" cmpd="thinThick" algn="ctr">
            <a:solidFill>
              <a:schemeClr val="tx1"/>
            </a:solidFill>
            <a:round/>
            <a:headEnd/>
            <a:tailEnd/>
          </a:ln>
        </p:spPr>
      </p:cxnSp>
      <p:pic>
        <p:nvPicPr>
          <p:cNvPr id="13" name="Imagen 12"/>
          <p:cNvPicPr/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84195" y="206515"/>
            <a:ext cx="1227981" cy="405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Imagen 13"/>
          <p:cNvPicPr/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675" y="116505"/>
            <a:ext cx="1350150" cy="585185"/>
          </a:xfrm>
          <a:prstGeom prst="rect">
            <a:avLst/>
          </a:prstGeom>
        </p:spPr>
      </p:pic>
      <p:sp>
        <p:nvSpPr>
          <p:cNvPr id="2" name="CuadroTexto 1"/>
          <p:cNvSpPr txBox="1"/>
          <p:nvPr userDrawn="1"/>
        </p:nvSpPr>
        <p:spPr>
          <a:xfrm>
            <a:off x="5319211" y="827088"/>
            <a:ext cx="5850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2974150-0EC3-4780-AEEC-23E458C8D05A}" type="slidenum">
              <a:rPr lang="es-ES" sz="1000" b="0" kern="120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pPr/>
              <a:t>‹Nº›</a:t>
            </a:fld>
            <a:endParaRPr lang="es-ES" sz="1000" b="0" kern="1200" dirty="0">
              <a:solidFill>
                <a:schemeClr val="tx1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9" name="24 Marcador de pie de página"/>
          <p:cNvSpPr txBox="1">
            <a:spLocks/>
          </p:cNvSpPr>
          <p:nvPr userDrawn="1"/>
        </p:nvSpPr>
        <p:spPr>
          <a:xfrm>
            <a:off x="4104076" y="8775975"/>
            <a:ext cx="2340260" cy="34153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REV: 03  SEP 05’ 2018  ER–FO–CD-GR-11</a:t>
            </a:r>
            <a:endParaRPr kumimoji="0" lang="es-ES_tradnl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71488" y="487363"/>
            <a:ext cx="5915025" cy="1766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71488" y="2433638"/>
            <a:ext cx="5915025" cy="580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71488" y="8475663"/>
            <a:ext cx="154305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F6363-5592-4139-A2F0-B78B5A62E9AA}" type="datetimeFigureOut">
              <a:rPr lang="es-ES" smtClean="0"/>
              <a:pPr/>
              <a:t>14/10/2019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2271713" y="8475663"/>
            <a:ext cx="2314575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4843463" y="8475663"/>
            <a:ext cx="154305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F08A12-3888-42B4-9604-51F377EF28FE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92800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18"/>
          <p:cNvSpPr>
            <a:spLocks noChangeArrowheads="1"/>
          </p:cNvSpPr>
          <p:nvPr/>
        </p:nvSpPr>
        <p:spPr bwMode="auto">
          <a:xfrm>
            <a:off x="1178750" y="7542330"/>
            <a:ext cx="4713287" cy="1035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355793" indent="-355793" eaLnBrk="0" hangingPunct="0">
              <a:lnSpc>
                <a:spcPct val="110000"/>
              </a:lnSpc>
              <a:spcBef>
                <a:spcPct val="20000"/>
              </a:spcBef>
              <a:buFont typeface="Monotype Sorts" pitchFamily="2" charset="2"/>
              <a:buNone/>
              <a:defRPr/>
            </a:pPr>
            <a:r>
              <a:rPr lang="es-ES_tradnl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Planta</a:t>
            </a:r>
            <a:r>
              <a:rPr lang="es-ES_tradnl" sz="1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: RIASA</a:t>
            </a:r>
            <a:endParaRPr lang="es-ES_tradnl" sz="1800" b="1" dirty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  <a:p>
            <a:pPr marL="355793" indent="-355793" eaLnBrk="0" hangingPunct="0">
              <a:lnSpc>
                <a:spcPct val="110000"/>
              </a:lnSpc>
              <a:spcBef>
                <a:spcPct val="20000"/>
              </a:spcBef>
              <a:buFont typeface="Monotype Sorts" pitchFamily="2" charset="2"/>
              <a:buNone/>
              <a:defRPr/>
            </a:pPr>
            <a:r>
              <a:rPr lang="es-ES_tradnl" sz="1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Área ó departamento: Inyección</a:t>
            </a:r>
            <a:endParaRPr lang="es-ES_tradnl" sz="1800" b="1" dirty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</p:txBody>
      </p: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503675" y="3986934"/>
            <a:ext cx="5625625" cy="2340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812993" lvl="1" indent="-355793" algn="ctr" eaLnBrk="0" hangingPunct="0">
              <a:lnSpc>
                <a:spcPct val="110000"/>
              </a:lnSpc>
              <a:spcBef>
                <a:spcPct val="20000"/>
              </a:spcBef>
              <a:buFont typeface="Monotype Sorts" pitchFamily="2" charset="2"/>
              <a:buNone/>
              <a:defRPr/>
            </a:pPr>
            <a:r>
              <a:rPr lang="es-ES_tradnl" sz="32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Manual de usuario</a:t>
            </a:r>
          </a:p>
          <a:p>
            <a:pPr marL="812993" lvl="1" indent="-355793" algn="ctr" eaLnBrk="0" hangingPunct="0">
              <a:lnSpc>
                <a:spcPct val="110000"/>
              </a:lnSpc>
              <a:spcBef>
                <a:spcPct val="20000"/>
              </a:spcBef>
              <a:buFont typeface="Monotype Sorts" pitchFamily="2" charset="2"/>
              <a:buNone/>
              <a:defRPr/>
            </a:pPr>
            <a:r>
              <a:rPr lang="es-ES_tradnl" sz="3200" b="1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Realidad Virtual</a:t>
            </a:r>
            <a:endParaRPr lang="es-ES_tradnl" sz="3200" b="1" i="0" dirty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440" y="5823139"/>
            <a:ext cx="5048069" cy="246722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602" y="2546775"/>
            <a:ext cx="2916324" cy="2916324"/>
          </a:xfrm>
          <a:prstGeom prst="rect">
            <a:avLst/>
          </a:prstGeom>
        </p:spPr>
      </p:pic>
      <p:sp>
        <p:nvSpPr>
          <p:cNvPr id="6" name="Rectangle 19"/>
          <p:cNvSpPr>
            <a:spLocks noChangeArrowheads="1"/>
          </p:cNvSpPr>
          <p:nvPr/>
        </p:nvSpPr>
        <p:spPr bwMode="auto">
          <a:xfrm>
            <a:off x="765175" y="1805735"/>
            <a:ext cx="5562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s-ES_tradnl" sz="2400" b="1" i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Herramientas HTC y Oculus Rift</a:t>
            </a:r>
            <a:endParaRPr lang="es-ES_tradnl" sz="2400" b="1" i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032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Oval 31"/>
          <p:cNvSpPr>
            <a:spLocks noChangeArrowheads="1"/>
          </p:cNvSpPr>
          <p:nvPr/>
        </p:nvSpPr>
        <p:spPr bwMode="auto">
          <a:xfrm>
            <a:off x="2286000" y="1371600"/>
            <a:ext cx="228600" cy="152400"/>
          </a:xfrm>
          <a:prstGeom prst="ellipse">
            <a:avLst/>
          </a:prstGeom>
          <a:noFill/>
          <a:ln w="47625" cmpd="thickThin">
            <a:noFill/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20000"/>
              </a:spcBef>
              <a:buFont typeface="Monotype Sorts"/>
              <a:buChar char="v"/>
            </a:pPr>
            <a:endParaRPr lang="es-MX" dirty="0"/>
          </a:p>
        </p:txBody>
      </p:sp>
      <p:cxnSp>
        <p:nvCxnSpPr>
          <p:cNvPr id="5126" name="27 Conector recto"/>
          <p:cNvCxnSpPr>
            <a:cxnSpLocks noChangeShapeType="1"/>
          </p:cNvCxnSpPr>
          <p:nvPr/>
        </p:nvCxnSpPr>
        <p:spPr bwMode="auto">
          <a:xfrm>
            <a:off x="549275" y="684213"/>
            <a:ext cx="5903913" cy="0"/>
          </a:xfrm>
          <a:prstGeom prst="line">
            <a:avLst/>
          </a:prstGeom>
          <a:noFill/>
          <a:ln w="38100" cmpd="thinThick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1" name="Rectangle 19"/>
          <p:cNvSpPr>
            <a:spLocks noChangeArrowheads="1"/>
          </p:cNvSpPr>
          <p:nvPr/>
        </p:nvSpPr>
        <p:spPr bwMode="auto">
          <a:xfrm>
            <a:off x="765175" y="1805735"/>
            <a:ext cx="5562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s-ES_tradnl" sz="2400" b="1" i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2. ÍNDICE</a:t>
            </a:r>
            <a:endParaRPr lang="es-ES_tradnl" sz="2400" b="1" i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926105" y="2789185"/>
            <a:ext cx="4713287" cy="4753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Monotype Sorts" pitchFamily="2" charset="2"/>
              <a:buAutoNum type="arabicPeriod"/>
              <a:defRPr/>
            </a:pPr>
            <a:r>
              <a:rPr lang="es-ES_tradnl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Portada</a:t>
            </a: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Monotype Sorts" pitchFamily="2" charset="2"/>
              <a:buAutoNum type="arabicPeriod"/>
              <a:defRPr/>
            </a:pPr>
            <a:r>
              <a:rPr lang="es-ES_tradnl" sz="2400" b="1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Índice</a:t>
            </a: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Monotype Sorts" pitchFamily="2" charset="2"/>
              <a:buAutoNum type="arabicPeriod"/>
              <a:defRPr/>
            </a:pPr>
            <a:r>
              <a:rPr lang="es-ES_tradnl" sz="2400" b="1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Configuración </a:t>
            </a:r>
            <a:endParaRPr lang="es-ES_tradnl" sz="2400" b="1" i="0" dirty="0" smtClean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Monotype Sorts" pitchFamily="2" charset="2"/>
              <a:buAutoNum type="arabicPeriod"/>
              <a:defRPr/>
            </a:pPr>
            <a:r>
              <a:rPr lang="es-ES_tradnl" sz="2400" b="1" i="0" dirty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Datos Usuario</a:t>
            </a: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Monotype Sorts" pitchFamily="2" charset="2"/>
              <a:buAutoNum type="arabicPeriod"/>
              <a:defRPr/>
            </a:pPr>
            <a:r>
              <a:rPr lang="es-ES_tradnl" sz="2400" b="1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Información </a:t>
            </a:r>
            <a:r>
              <a:rPr lang="es-ES_tradnl" sz="2400" b="1" i="0" dirty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Defecto</a:t>
            </a: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Monotype Sorts" pitchFamily="2" charset="2"/>
              <a:buAutoNum type="arabicPeriod"/>
              <a:defRPr/>
            </a:pPr>
            <a:r>
              <a:rPr lang="es-ES_tradnl" sz="2400" b="1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Tutorial Simulación</a:t>
            </a:r>
            <a:endParaRPr lang="es-ES_tradnl" sz="2400" b="1" i="0" dirty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Monotype Sorts" pitchFamily="2" charset="2"/>
              <a:buAutoNum type="arabicPeriod"/>
              <a:tabLst>
                <a:tab pos="216000" algn="l"/>
              </a:tabLst>
              <a:defRPr/>
            </a:pPr>
            <a:r>
              <a:rPr lang="es-ES_tradnl" sz="2400" b="1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Practica</a:t>
            </a: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Monotype Sorts" pitchFamily="2" charset="2"/>
              <a:buAutoNum type="arabicPeriod"/>
              <a:tabLst>
                <a:tab pos="216000" algn="l"/>
              </a:tabLst>
              <a:defRPr/>
            </a:pPr>
            <a:r>
              <a:rPr lang="es-ES_tradnl" sz="2400" b="1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Simulación</a:t>
            </a: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Monotype Sorts" pitchFamily="2" charset="2"/>
              <a:buAutoNum type="arabicPeriod"/>
              <a:tabLst>
                <a:tab pos="216000" algn="l"/>
              </a:tabLst>
              <a:defRPr/>
            </a:pPr>
            <a:r>
              <a:rPr lang="es-ES_tradnl" sz="2400" b="1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Reporte Final</a:t>
            </a:r>
            <a:endParaRPr lang="es-ES_tradnl" sz="2400" b="1" i="0" dirty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Monotype Sorts" pitchFamily="2" charset="2"/>
              <a:buAutoNum type="arabicPeriod"/>
              <a:tabLst>
                <a:tab pos="216000" algn="l"/>
              </a:tabLst>
              <a:defRPr/>
            </a:pPr>
            <a:endParaRPr lang="es-ES_tradnl" sz="2400" b="1" i="0" dirty="0" smtClean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Monotype Sorts" pitchFamily="2" charset="2"/>
              <a:buAutoNum type="arabicPeriod"/>
              <a:tabLst>
                <a:tab pos="216000" algn="l"/>
              </a:tabLst>
              <a:defRPr/>
            </a:pPr>
            <a:endParaRPr lang="es-ES_tradnl" sz="2400" b="1" i="0" dirty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Oval 31"/>
          <p:cNvSpPr>
            <a:spLocks noChangeArrowheads="1"/>
          </p:cNvSpPr>
          <p:nvPr/>
        </p:nvSpPr>
        <p:spPr bwMode="auto">
          <a:xfrm>
            <a:off x="2286000" y="1371600"/>
            <a:ext cx="228600" cy="152400"/>
          </a:xfrm>
          <a:prstGeom prst="ellipse">
            <a:avLst/>
          </a:prstGeom>
          <a:noFill/>
          <a:ln w="47625" cmpd="thickThin">
            <a:noFill/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20000"/>
              </a:spcBef>
              <a:buFont typeface="Monotype Sorts"/>
              <a:buChar char="v"/>
            </a:pPr>
            <a:endParaRPr lang="es-MX" dirty="0"/>
          </a:p>
        </p:txBody>
      </p:sp>
      <p:cxnSp>
        <p:nvCxnSpPr>
          <p:cNvPr id="6150" name="27 Conector recto"/>
          <p:cNvCxnSpPr>
            <a:cxnSpLocks noChangeShapeType="1"/>
          </p:cNvCxnSpPr>
          <p:nvPr/>
        </p:nvCxnSpPr>
        <p:spPr bwMode="auto">
          <a:xfrm>
            <a:off x="549275" y="684213"/>
            <a:ext cx="5903913" cy="0"/>
          </a:xfrm>
          <a:prstGeom prst="line">
            <a:avLst/>
          </a:prstGeom>
          <a:noFill/>
          <a:ln w="38100" cmpd="thinThick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1" name="Rectangle 19"/>
          <p:cNvSpPr>
            <a:spLocks noChangeArrowheads="1"/>
          </p:cNvSpPr>
          <p:nvPr/>
        </p:nvSpPr>
        <p:spPr bwMode="auto">
          <a:xfrm>
            <a:off x="620713" y="1814513"/>
            <a:ext cx="5562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457200" indent="-457200" algn="ctr" eaLnBrk="0" hangingPunct="0">
              <a:buAutoNum type="arabicPeriod" startAt="3"/>
              <a:defRPr/>
            </a:pPr>
            <a:r>
              <a:rPr lang="es-ES_tradnl" sz="2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Configuración.</a:t>
            </a:r>
          </a:p>
        </p:txBody>
      </p:sp>
      <p:sp>
        <p:nvSpPr>
          <p:cNvPr id="5" name="6 CuadroTexto"/>
          <p:cNvSpPr txBox="1"/>
          <p:nvPr/>
        </p:nvSpPr>
        <p:spPr>
          <a:xfrm>
            <a:off x="593685" y="2591780"/>
            <a:ext cx="5670630" cy="447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defRPr/>
            </a:pPr>
            <a:r>
              <a:rPr lang="es-MX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En este Menú se manejara la configuración del numero de cajas que se imprimirán por defecto .</a:t>
            </a: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defRPr/>
            </a:pPr>
            <a:endParaRPr lang="es-MX" i="0" dirty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defRPr/>
            </a:pPr>
            <a:r>
              <a:rPr lang="es-MX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Cosas </a:t>
            </a:r>
            <a:r>
              <a:rPr lang="es-MX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por configurar</a:t>
            </a: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/>
            </a:pPr>
            <a:r>
              <a:rPr lang="es-MX" b="1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Numero de cajas</a:t>
            </a: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/>
            </a:pPr>
            <a:r>
              <a:rPr lang="es-MX" b="1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Defectos que se imprimirán</a:t>
            </a: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/>
            </a:pPr>
            <a:r>
              <a:rPr lang="es-MX" b="1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Cajas sin defecto que se imprimirán</a:t>
            </a: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/>
            </a:pPr>
            <a:r>
              <a:rPr lang="es-MX" b="1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Dificultad de detección de los defectos</a:t>
            </a: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/>
            </a:pPr>
            <a:endParaRPr lang="es-MX" sz="2400" b="1" i="0" dirty="0" smtClean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/>
            </a:pPr>
            <a:endParaRPr lang="es-MX" sz="2400" b="1" i="0" dirty="0" smtClean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/>
            </a:pPr>
            <a:endParaRPr lang="es-MX" sz="2400" b="1" i="0" dirty="0" smtClean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defRPr/>
            </a:pPr>
            <a:endParaRPr lang="es-MX" sz="2400" i="0" dirty="0" smtClean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795" y="5922150"/>
            <a:ext cx="3330370" cy="273887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Oval 31"/>
          <p:cNvSpPr>
            <a:spLocks noChangeArrowheads="1"/>
          </p:cNvSpPr>
          <p:nvPr/>
        </p:nvSpPr>
        <p:spPr bwMode="auto">
          <a:xfrm>
            <a:off x="2286000" y="1371600"/>
            <a:ext cx="228600" cy="152400"/>
          </a:xfrm>
          <a:prstGeom prst="ellipse">
            <a:avLst/>
          </a:prstGeom>
          <a:noFill/>
          <a:ln w="47625" cmpd="thickThin">
            <a:noFill/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20000"/>
              </a:spcBef>
              <a:buFont typeface="Monotype Sorts"/>
              <a:buChar char="v"/>
            </a:pPr>
            <a:endParaRPr lang="es-MX" dirty="0"/>
          </a:p>
        </p:txBody>
      </p:sp>
      <p:cxnSp>
        <p:nvCxnSpPr>
          <p:cNvPr id="6150" name="27 Conector recto"/>
          <p:cNvCxnSpPr>
            <a:cxnSpLocks noChangeShapeType="1"/>
          </p:cNvCxnSpPr>
          <p:nvPr/>
        </p:nvCxnSpPr>
        <p:spPr bwMode="auto">
          <a:xfrm>
            <a:off x="549275" y="684213"/>
            <a:ext cx="5903913" cy="0"/>
          </a:xfrm>
          <a:prstGeom prst="line">
            <a:avLst/>
          </a:prstGeom>
          <a:noFill/>
          <a:ln w="38100" cmpd="thinThick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1" name="Rectangle 19"/>
          <p:cNvSpPr>
            <a:spLocks noChangeArrowheads="1"/>
          </p:cNvSpPr>
          <p:nvPr/>
        </p:nvSpPr>
        <p:spPr bwMode="auto">
          <a:xfrm>
            <a:off x="620713" y="1814513"/>
            <a:ext cx="5562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457200" indent="-457200" algn="ctr" eaLnBrk="0" hangingPunct="0">
              <a:buAutoNum type="arabicPeriod" startAt="3"/>
              <a:defRPr/>
            </a:pPr>
            <a:r>
              <a:rPr lang="es-ES_tradnl" sz="2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Configuración.</a:t>
            </a:r>
          </a:p>
        </p:txBody>
      </p:sp>
      <p:sp>
        <p:nvSpPr>
          <p:cNvPr id="5" name="6 CuadroTexto"/>
          <p:cNvSpPr txBox="1"/>
          <p:nvPr/>
        </p:nvSpPr>
        <p:spPr>
          <a:xfrm>
            <a:off x="593685" y="2591780"/>
            <a:ext cx="5670630" cy="352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defRPr/>
            </a:pPr>
            <a:r>
              <a:rPr lang="es-MX" sz="1400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Control</a:t>
            </a:r>
            <a:endParaRPr lang="es-MX" sz="1400" i="0" dirty="0" smtClean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/>
            </a:pPr>
            <a:r>
              <a:rPr lang="es-MX" sz="1400" b="1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Con w y s te mueves de abajo hacia arriba para seleccionar que tipo de error quieres configurar</a:t>
            </a:r>
            <a:endParaRPr lang="es-MX" sz="1400" b="1" i="0" dirty="0" smtClean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/>
            </a:pPr>
            <a:r>
              <a:rPr lang="es-MX" sz="1400" b="1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Con las flechas izquierda y derecha alteras el valor el valor de las cajas ya que se tiene el limite de 60 defectos que se imprimirán durante la prueba.</a:t>
            </a: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/>
            </a:pPr>
            <a:endParaRPr lang="es-MX" sz="2400" b="1" i="0" dirty="0" smtClean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/>
            </a:pPr>
            <a:endParaRPr lang="es-MX" sz="2400" b="1" i="0" dirty="0" smtClean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/>
            </a:pPr>
            <a:endParaRPr lang="es-MX" sz="2400" b="1" i="0" dirty="0" smtClean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defRPr/>
            </a:pPr>
            <a:endParaRPr lang="es-MX" sz="2400" i="0" dirty="0" smtClean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10" y="4256965"/>
            <a:ext cx="5220831" cy="429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3127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Oval 31"/>
          <p:cNvSpPr>
            <a:spLocks noChangeArrowheads="1"/>
          </p:cNvSpPr>
          <p:nvPr/>
        </p:nvSpPr>
        <p:spPr bwMode="auto">
          <a:xfrm>
            <a:off x="2286000" y="1371600"/>
            <a:ext cx="228600" cy="152400"/>
          </a:xfrm>
          <a:prstGeom prst="ellipse">
            <a:avLst/>
          </a:prstGeom>
          <a:noFill/>
          <a:ln w="47625" cmpd="thickThin">
            <a:noFill/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20000"/>
              </a:spcBef>
              <a:buFont typeface="Monotype Sorts"/>
              <a:buChar char="v"/>
            </a:pPr>
            <a:endParaRPr lang="es-MX" dirty="0"/>
          </a:p>
        </p:txBody>
      </p:sp>
      <p:cxnSp>
        <p:nvCxnSpPr>
          <p:cNvPr id="6150" name="27 Conector recto"/>
          <p:cNvCxnSpPr>
            <a:cxnSpLocks noChangeShapeType="1"/>
          </p:cNvCxnSpPr>
          <p:nvPr/>
        </p:nvCxnSpPr>
        <p:spPr bwMode="auto">
          <a:xfrm>
            <a:off x="549275" y="684213"/>
            <a:ext cx="5903913" cy="0"/>
          </a:xfrm>
          <a:prstGeom prst="line">
            <a:avLst/>
          </a:prstGeom>
          <a:noFill/>
          <a:ln w="38100" cmpd="thinThick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1" name="Rectangle 19"/>
          <p:cNvSpPr>
            <a:spLocks noChangeArrowheads="1"/>
          </p:cNvSpPr>
          <p:nvPr/>
        </p:nvSpPr>
        <p:spPr bwMode="auto">
          <a:xfrm>
            <a:off x="620713" y="1814512"/>
            <a:ext cx="5562600" cy="687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457200" indent="-457200" algn="ctr" eaLnBrk="0" hangingPunct="0">
              <a:buAutoNum type="arabicPeriod" startAt="4"/>
              <a:defRPr/>
            </a:pPr>
            <a:r>
              <a:rPr lang="es-ES_tradnl" sz="2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Datos Usuario.</a:t>
            </a:r>
          </a:p>
        </p:txBody>
      </p:sp>
      <p:sp>
        <p:nvSpPr>
          <p:cNvPr id="6" name="6 CuadroTexto"/>
          <p:cNvSpPr txBox="1"/>
          <p:nvPr/>
        </p:nvSpPr>
        <p:spPr>
          <a:xfrm>
            <a:off x="620713" y="2411760"/>
            <a:ext cx="567063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defRPr/>
            </a:pPr>
            <a:r>
              <a:rPr lang="es-MX" sz="2000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Agregas los datos del usuario que utilizara Y escoges que simulación se va a usar al agregar un dato presionar enter para confirmar.</a:t>
            </a: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/>
            </a:pPr>
            <a:r>
              <a:rPr lang="es-MX" sz="2000" b="1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Nombre</a:t>
            </a: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/>
            </a:pPr>
            <a:r>
              <a:rPr lang="es-MX" sz="2000" b="1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Apellido</a:t>
            </a: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/>
            </a:pPr>
            <a:r>
              <a:rPr lang="es-MX" sz="2000" b="1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Numero</a:t>
            </a: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/>
            </a:pPr>
            <a:r>
              <a:rPr lang="es-MX" sz="2000" b="1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Puesto</a:t>
            </a: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/>
            </a:pPr>
            <a:r>
              <a:rPr lang="es-MX" sz="2000" b="1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Planta</a:t>
            </a:r>
          </a:p>
          <a:p>
            <a:pPr marL="457200" indent="-457200" eaLnBrk="0" hangingPunct="0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Char char="v"/>
              <a:defRPr/>
            </a:pPr>
            <a:r>
              <a:rPr lang="es-MX" sz="2000" b="1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Test</a:t>
            </a: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defRPr/>
            </a:pPr>
            <a:endParaRPr lang="es-MX" sz="2000" b="1" i="0" dirty="0" smtClean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850" y="5967155"/>
            <a:ext cx="3327788" cy="273631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Oval 31"/>
          <p:cNvSpPr>
            <a:spLocks noChangeArrowheads="1"/>
          </p:cNvSpPr>
          <p:nvPr/>
        </p:nvSpPr>
        <p:spPr bwMode="auto">
          <a:xfrm>
            <a:off x="2286000" y="1371600"/>
            <a:ext cx="228600" cy="152400"/>
          </a:xfrm>
          <a:prstGeom prst="ellipse">
            <a:avLst/>
          </a:prstGeom>
          <a:noFill/>
          <a:ln w="47625" cmpd="thickThin">
            <a:noFill/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20000"/>
              </a:spcBef>
              <a:buFont typeface="Monotype Sorts"/>
              <a:buChar char="v"/>
            </a:pPr>
            <a:endParaRPr lang="es-MX" dirty="0"/>
          </a:p>
        </p:txBody>
      </p:sp>
      <p:cxnSp>
        <p:nvCxnSpPr>
          <p:cNvPr id="6150" name="27 Conector recto"/>
          <p:cNvCxnSpPr>
            <a:cxnSpLocks noChangeShapeType="1"/>
          </p:cNvCxnSpPr>
          <p:nvPr/>
        </p:nvCxnSpPr>
        <p:spPr bwMode="auto">
          <a:xfrm>
            <a:off x="549275" y="684213"/>
            <a:ext cx="5903913" cy="0"/>
          </a:xfrm>
          <a:prstGeom prst="line">
            <a:avLst/>
          </a:prstGeom>
          <a:noFill/>
          <a:ln w="38100" cmpd="thinThick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1" name="Rectangle 19"/>
          <p:cNvSpPr>
            <a:spLocks noChangeArrowheads="1"/>
          </p:cNvSpPr>
          <p:nvPr/>
        </p:nvSpPr>
        <p:spPr bwMode="auto">
          <a:xfrm>
            <a:off x="620713" y="1814512"/>
            <a:ext cx="5562600" cy="687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s-ES_tradnl" sz="2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5.   Información del Defecto.</a:t>
            </a:r>
          </a:p>
        </p:txBody>
      </p:sp>
      <p:sp>
        <p:nvSpPr>
          <p:cNvPr id="6" name="6 CuadroTexto"/>
          <p:cNvSpPr txBox="1"/>
          <p:nvPr/>
        </p:nvSpPr>
        <p:spPr>
          <a:xfrm>
            <a:off x="620713" y="2411760"/>
            <a:ext cx="567063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defRPr/>
            </a:pPr>
            <a:r>
              <a:rPr lang="es-MX" sz="2000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Se le presentara al Usuario los defectos con ayudas visuales y audios que indican en que parte del proceso afecta dejar pasar el </a:t>
            </a:r>
            <a:r>
              <a:rPr lang="es-MX" sz="2000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error durante este proceso solo necesitas esperar a que el usuario termine de ver las ayudas.</a:t>
            </a:r>
            <a:endParaRPr lang="es-MX" sz="2000" i="0" dirty="0" smtClean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defRPr/>
            </a:pPr>
            <a:endParaRPr lang="es-MX" sz="2000" b="1" i="0" dirty="0" smtClean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defRPr/>
            </a:pPr>
            <a:endParaRPr lang="es-MX" sz="2000" b="1" i="0" dirty="0" smtClean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51" y="4298358"/>
            <a:ext cx="6300323" cy="339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593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Oval 31"/>
          <p:cNvSpPr>
            <a:spLocks noChangeArrowheads="1"/>
          </p:cNvSpPr>
          <p:nvPr/>
        </p:nvSpPr>
        <p:spPr bwMode="auto">
          <a:xfrm>
            <a:off x="2286000" y="1371600"/>
            <a:ext cx="228600" cy="152400"/>
          </a:xfrm>
          <a:prstGeom prst="ellipse">
            <a:avLst/>
          </a:prstGeom>
          <a:noFill/>
          <a:ln w="47625" cmpd="thickThin">
            <a:noFill/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20000"/>
              </a:spcBef>
              <a:buFont typeface="Monotype Sorts"/>
              <a:buChar char="v"/>
            </a:pPr>
            <a:endParaRPr lang="es-MX" dirty="0"/>
          </a:p>
        </p:txBody>
      </p:sp>
      <p:cxnSp>
        <p:nvCxnSpPr>
          <p:cNvPr id="7174" name="27 Conector recto"/>
          <p:cNvCxnSpPr>
            <a:cxnSpLocks noChangeShapeType="1"/>
          </p:cNvCxnSpPr>
          <p:nvPr/>
        </p:nvCxnSpPr>
        <p:spPr bwMode="auto">
          <a:xfrm>
            <a:off x="549275" y="684213"/>
            <a:ext cx="5903913" cy="0"/>
          </a:xfrm>
          <a:prstGeom prst="line">
            <a:avLst/>
          </a:prstGeom>
          <a:noFill/>
          <a:ln w="38100" cmpd="thinThick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1" name="Rectangle 19"/>
          <p:cNvSpPr>
            <a:spLocks noChangeArrowheads="1"/>
          </p:cNvSpPr>
          <p:nvPr/>
        </p:nvSpPr>
        <p:spPr bwMode="auto">
          <a:xfrm>
            <a:off x="620713" y="1593850"/>
            <a:ext cx="5562600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514350" indent="-514350" algn="ctr" eaLnBrk="0" hangingPunct="0">
              <a:defRPr/>
            </a:pPr>
            <a:endParaRPr lang="es-ES_tradnl" sz="2400" b="1" i="0" dirty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  <a:p>
            <a:pPr marL="514350" indent="-514350" algn="ctr" eaLnBrk="0" hangingPunct="0">
              <a:defRPr/>
            </a:pPr>
            <a:r>
              <a:rPr lang="es-ES_tradnl" sz="2400" b="1" i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6</a:t>
            </a:r>
            <a:r>
              <a:rPr lang="es-ES_tradnl" sz="2400" b="1" i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. Tutorial</a:t>
            </a:r>
          </a:p>
          <a:p>
            <a:pPr marL="514350" indent="-514350" algn="ctr" eaLnBrk="0" hangingPunct="0">
              <a:defRPr/>
            </a:pPr>
            <a:endParaRPr lang="es-ES_tradnl" sz="2400" b="1" i="0" dirty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</p:txBody>
      </p:sp>
      <p:sp>
        <p:nvSpPr>
          <p:cNvPr id="5" name="11 CuadroTexto"/>
          <p:cNvSpPr txBox="1"/>
          <p:nvPr/>
        </p:nvSpPr>
        <p:spPr>
          <a:xfrm>
            <a:off x="2212089" y="2394137"/>
            <a:ext cx="41872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/>
              <a:t>1.- Con audio se indicara que el usuario presione cualquier botón, al hacerlo se imprimirá la primer caja.</a:t>
            </a:r>
            <a:endParaRPr lang="es-MX" dirty="0"/>
          </a:p>
        </p:txBody>
      </p:sp>
      <p:sp>
        <p:nvSpPr>
          <p:cNvPr id="8" name="11 CuadroTexto"/>
          <p:cNvSpPr txBox="1"/>
          <p:nvPr/>
        </p:nvSpPr>
        <p:spPr>
          <a:xfrm>
            <a:off x="2286000" y="4329352"/>
            <a:ext cx="42154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2</a:t>
            </a:r>
            <a:r>
              <a:rPr lang="es-MX" dirty="0" smtClean="0"/>
              <a:t>.- El programa con audio </a:t>
            </a:r>
            <a:r>
              <a:rPr lang="es-MX" dirty="0" err="1" smtClean="0"/>
              <a:t>dara</a:t>
            </a:r>
            <a:r>
              <a:rPr lang="es-MX" dirty="0" smtClean="0"/>
              <a:t> la instrucción de agarrar la caja presionando un botón del control .</a:t>
            </a:r>
            <a:endParaRPr lang="es-MX" dirty="0"/>
          </a:p>
        </p:txBody>
      </p:sp>
      <p:sp>
        <p:nvSpPr>
          <p:cNvPr id="4" name="Elipse 3"/>
          <p:cNvSpPr/>
          <p:nvPr/>
        </p:nvSpPr>
        <p:spPr bwMode="auto">
          <a:xfrm>
            <a:off x="1988840" y="2636785"/>
            <a:ext cx="297160" cy="450050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Monotype Sorts" pitchFamily="2" charset="2"/>
              <a:buChar char="v"/>
              <a:tabLst/>
            </a:pPr>
            <a:endParaRPr kumimoji="0" lang="es-ES" sz="16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Elipse 5"/>
          <p:cNvSpPr/>
          <p:nvPr/>
        </p:nvSpPr>
        <p:spPr bwMode="auto">
          <a:xfrm>
            <a:off x="187996" y="1920614"/>
            <a:ext cx="360000" cy="360000"/>
          </a:xfrm>
          <a:prstGeom prst="ellipse">
            <a:avLst/>
          </a:prstGeom>
          <a:ln w="63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sz="1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</a:t>
            </a:r>
          </a:p>
        </p:txBody>
      </p:sp>
      <p:sp>
        <p:nvSpPr>
          <p:cNvPr id="27" name="11 CuadroTexto"/>
          <p:cNvSpPr txBox="1"/>
          <p:nvPr/>
        </p:nvSpPr>
        <p:spPr>
          <a:xfrm>
            <a:off x="2286000" y="6762892"/>
            <a:ext cx="42514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3.- Después de tener la batería en mano se indicara que se debe colocar en el contenedor verde si es la pieza es conforme o el rojo si es inconforme después de esto se le dejara al usuario practicar hasta que se sienta listo para la prueba real.</a:t>
            </a:r>
            <a:endParaRPr lang="es-MX" dirty="0"/>
          </a:p>
        </p:txBody>
      </p:sp>
      <p:sp>
        <p:nvSpPr>
          <p:cNvPr id="19" name="Elipse 5"/>
          <p:cNvSpPr/>
          <p:nvPr/>
        </p:nvSpPr>
        <p:spPr bwMode="auto">
          <a:xfrm>
            <a:off x="77820" y="4290992"/>
            <a:ext cx="360000" cy="360000"/>
          </a:xfrm>
          <a:prstGeom prst="ellipse">
            <a:avLst/>
          </a:prstGeom>
          <a:ln w="63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</a:pPr>
            <a:r>
              <a:rPr lang="es-ES" sz="1000" b="1" dirty="0" smtClean="0">
                <a:solidFill>
                  <a:schemeClr val="tx1"/>
                </a:solidFill>
                <a:latin typeface="Arial" charset="0"/>
              </a:rPr>
              <a:t>2</a:t>
            </a:r>
            <a:endParaRPr kumimoji="0" lang="es-ES" sz="10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Elipse 5"/>
          <p:cNvSpPr/>
          <p:nvPr/>
        </p:nvSpPr>
        <p:spPr bwMode="auto">
          <a:xfrm>
            <a:off x="188568" y="6688608"/>
            <a:ext cx="360000" cy="360000"/>
          </a:xfrm>
          <a:prstGeom prst="ellipse">
            <a:avLst/>
          </a:prstGeom>
          <a:ln w="63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</a:pPr>
            <a:r>
              <a:rPr lang="es-ES" sz="1000" b="1" dirty="0" smtClean="0">
                <a:solidFill>
                  <a:schemeClr val="tx1"/>
                </a:solidFill>
                <a:latin typeface="Arial" charset="0"/>
              </a:rPr>
              <a:t>3</a:t>
            </a:r>
            <a:endParaRPr kumimoji="0" lang="es-ES" sz="10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00" y="6868608"/>
            <a:ext cx="1486278" cy="180232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0" y="2559315"/>
            <a:ext cx="1879600" cy="1401825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798" y="4970997"/>
            <a:ext cx="2123644" cy="120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2052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Oval 31"/>
          <p:cNvSpPr>
            <a:spLocks noChangeArrowheads="1"/>
          </p:cNvSpPr>
          <p:nvPr/>
        </p:nvSpPr>
        <p:spPr bwMode="auto">
          <a:xfrm>
            <a:off x="2286000" y="1371600"/>
            <a:ext cx="228600" cy="152400"/>
          </a:xfrm>
          <a:prstGeom prst="ellipse">
            <a:avLst/>
          </a:prstGeom>
          <a:noFill/>
          <a:ln w="47625" cmpd="thickThin">
            <a:noFill/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20000"/>
              </a:spcBef>
              <a:buFont typeface="Monotype Sorts"/>
              <a:buChar char="v"/>
            </a:pPr>
            <a:endParaRPr lang="es-MX" dirty="0"/>
          </a:p>
        </p:txBody>
      </p:sp>
      <p:cxnSp>
        <p:nvCxnSpPr>
          <p:cNvPr id="7174" name="27 Conector recto"/>
          <p:cNvCxnSpPr>
            <a:cxnSpLocks noChangeShapeType="1"/>
          </p:cNvCxnSpPr>
          <p:nvPr/>
        </p:nvCxnSpPr>
        <p:spPr bwMode="auto">
          <a:xfrm>
            <a:off x="549275" y="684213"/>
            <a:ext cx="5903913" cy="0"/>
          </a:xfrm>
          <a:prstGeom prst="line">
            <a:avLst/>
          </a:prstGeom>
          <a:noFill/>
          <a:ln w="38100" cmpd="thinThick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1" name="Rectangle 19"/>
          <p:cNvSpPr>
            <a:spLocks noChangeArrowheads="1"/>
          </p:cNvSpPr>
          <p:nvPr/>
        </p:nvSpPr>
        <p:spPr bwMode="auto">
          <a:xfrm>
            <a:off x="620713" y="1593850"/>
            <a:ext cx="5562600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514350" indent="-514350" algn="ctr" eaLnBrk="0" hangingPunct="0">
              <a:defRPr/>
            </a:pPr>
            <a:endParaRPr lang="es-ES_tradnl" sz="2400" b="1" i="0" dirty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  <a:p>
            <a:pPr marL="514350" indent="-514350" algn="ctr" eaLnBrk="0" hangingPunct="0">
              <a:defRPr/>
            </a:pPr>
            <a:r>
              <a:rPr lang="es-ES_tradnl" sz="2400" b="1" i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6</a:t>
            </a:r>
            <a:r>
              <a:rPr lang="es-ES_tradnl" sz="2400" b="1" i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. Tutorial</a:t>
            </a:r>
          </a:p>
          <a:p>
            <a:pPr marL="514350" indent="-514350" algn="ctr" eaLnBrk="0" hangingPunct="0">
              <a:defRPr/>
            </a:pPr>
            <a:endParaRPr lang="es-ES_tradnl" sz="2400" b="1" i="0" dirty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</p:txBody>
      </p:sp>
      <p:sp>
        <p:nvSpPr>
          <p:cNvPr id="5" name="11 CuadroTexto"/>
          <p:cNvSpPr txBox="1"/>
          <p:nvPr/>
        </p:nvSpPr>
        <p:spPr>
          <a:xfrm>
            <a:off x="60939" y="2158316"/>
            <a:ext cx="66534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/>
              <a:t>1.- </a:t>
            </a:r>
            <a:r>
              <a:rPr lang="es-MX" dirty="0" smtClean="0"/>
              <a:t>Durante este proceso solo necesita supervisar al usuario que siga las instrucciones correctamente y ayudarle hasta que se sienta seguro de como funciona el sistema.</a:t>
            </a:r>
            <a:endParaRPr lang="es-MX" dirty="0"/>
          </a:p>
        </p:txBody>
      </p:sp>
      <p:sp>
        <p:nvSpPr>
          <p:cNvPr id="4" name="Elipse 3"/>
          <p:cNvSpPr/>
          <p:nvPr/>
        </p:nvSpPr>
        <p:spPr bwMode="auto">
          <a:xfrm>
            <a:off x="1988840" y="2636785"/>
            <a:ext cx="297160" cy="450050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Monotype Sorts" pitchFamily="2" charset="2"/>
              <a:buChar char="v"/>
              <a:tabLst/>
            </a:pPr>
            <a:endParaRPr kumimoji="0" lang="es-ES" sz="16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60" y="4617005"/>
            <a:ext cx="6068828" cy="3444951"/>
          </a:xfrm>
          <a:prstGeom prst="rect">
            <a:avLst/>
          </a:prstGeom>
        </p:spPr>
      </p:pic>
      <p:sp>
        <p:nvSpPr>
          <p:cNvPr id="15" name="11 CuadroTexto"/>
          <p:cNvSpPr txBox="1"/>
          <p:nvPr/>
        </p:nvSpPr>
        <p:spPr>
          <a:xfrm>
            <a:off x="60939" y="3151692"/>
            <a:ext cx="66534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2</a:t>
            </a:r>
            <a:r>
              <a:rPr lang="es-MX" dirty="0" smtClean="0"/>
              <a:t>.- Durante este proceso solo necesita supervisar al usuario que siga las instrucciones correctamente y ayudarle hasta que se sienta seguro de como funciona el sistema al terminar presionar la tecla Y para seguir a la prueba que si se le evaluara.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286813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Oval 31"/>
          <p:cNvSpPr>
            <a:spLocks noChangeArrowheads="1"/>
          </p:cNvSpPr>
          <p:nvPr/>
        </p:nvSpPr>
        <p:spPr bwMode="auto">
          <a:xfrm>
            <a:off x="2286000" y="1371600"/>
            <a:ext cx="228600" cy="152400"/>
          </a:xfrm>
          <a:prstGeom prst="ellipse">
            <a:avLst/>
          </a:prstGeom>
          <a:noFill/>
          <a:ln w="47625" cmpd="thickThin">
            <a:noFill/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20000"/>
              </a:spcBef>
              <a:buFont typeface="Monotype Sorts"/>
              <a:buChar char="v"/>
            </a:pPr>
            <a:endParaRPr lang="es-MX" dirty="0"/>
          </a:p>
        </p:txBody>
      </p:sp>
      <p:cxnSp>
        <p:nvCxnSpPr>
          <p:cNvPr id="6150" name="27 Conector recto"/>
          <p:cNvCxnSpPr>
            <a:cxnSpLocks noChangeShapeType="1"/>
          </p:cNvCxnSpPr>
          <p:nvPr/>
        </p:nvCxnSpPr>
        <p:spPr bwMode="auto">
          <a:xfrm>
            <a:off x="549275" y="684213"/>
            <a:ext cx="5903913" cy="0"/>
          </a:xfrm>
          <a:prstGeom prst="line">
            <a:avLst/>
          </a:prstGeom>
          <a:noFill/>
          <a:ln w="38100" cmpd="thinThick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1" name="Rectangle 19"/>
          <p:cNvSpPr>
            <a:spLocks noChangeArrowheads="1"/>
          </p:cNvSpPr>
          <p:nvPr/>
        </p:nvSpPr>
        <p:spPr bwMode="auto">
          <a:xfrm>
            <a:off x="620713" y="1814512"/>
            <a:ext cx="5562600" cy="687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s-ES_tradnl" sz="2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7.   Simulación.</a:t>
            </a:r>
          </a:p>
        </p:txBody>
      </p:sp>
      <p:sp>
        <p:nvSpPr>
          <p:cNvPr id="6" name="6 CuadroTexto"/>
          <p:cNvSpPr txBox="1"/>
          <p:nvPr/>
        </p:nvSpPr>
        <p:spPr>
          <a:xfrm>
            <a:off x="620713" y="2411760"/>
            <a:ext cx="567063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defRPr/>
            </a:pPr>
            <a:r>
              <a:rPr lang="es-MX" sz="2000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Todo sucederá y se interactuara igual que en el tutorial con la diferencia que ahora se le evaluara al usuario su </a:t>
            </a:r>
            <a:r>
              <a:rPr lang="es-MX" sz="2000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desempeño lo único que se necesita hacer durante esta simulación es cuidar al usuario que no tenga ningún inconveniente.</a:t>
            </a:r>
            <a:endParaRPr lang="es-MX" sz="2000" i="0" dirty="0" smtClean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defRPr/>
            </a:pPr>
            <a:endParaRPr lang="es-MX" sz="2000" b="1" i="0" dirty="0" smtClean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defRPr/>
            </a:pPr>
            <a:endParaRPr lang="es-MX" sz="2000" b="1" i="0" dirty="0" smtClean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66" y="4842030"/>
            <a:ext cx="6300693" cy="342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47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Oval 31"/>
          <p:cNvSpPr>
            <a:spLocks noChangeArrowheads="1"/>
          </p:cNvSpPr>
          <p:nvPr/>
        </p:nvSpPr>
        <p:spPr bwMode="auto">
          <a:xfrm>
            <a:off x="2286000" y="1371600"/>
            <a:ext cx="228600" cy="152400"/>
          </a:xfrm>
          <a:prstGeom prst="ellipse">
            <a:avLst/>
          </a:prstGeom>
          <a:noFill/>
          <a:ln w="47625" cmpd="thickThin">
            <a:noFill/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20000"/>
              </a:spcBef>
              <a:buFont typeface="Monotype Sorts"/>
              <a:buChar char="v"/>
            </a:pPr>
            <a:endParaRPr lang="es-MX" dirty="0"/>
          </a:p>
        </p:txBody>
      </p:sp>
      <p:cxnSp>
        <p:nvCxnSpPr>
          <p:cNvPr id="6150" name="27 Conector recto"/>
          <p:cNvCxnSpPr>
            <a:cxnSpLocks noChangeShapeType="1"/>
          </p:cNvCxnSpPr>
          <p:nvPr/>
        </p:nvCxnSpPr>
        <p:spPr bwMode="auto">
          <a:xfrm>
            <a:off x="549275" y="684213"/>
            <a:ext cx="5903913" cy="0"/>
          </a:xfrm>
          <a:prstGeom prst="line">
            <a:avLst/>
          </a:prstGeom>
          <a:noFill/>
          <a:ln w="38100" cmpd="thinThick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1" name="Rectangle 19"/>
          <p:cNvSpPr>
            <a:spLocks noChangeArrowheads="1"/>
          </p:cNvSpPr>
          <p:nvPr/>
        </p:nvSpPr>
        <p:spPr bwMode="auto">
          <a:xfrm>
            <a:off x="620713" y="1814512"/>
            <a:ext cx="5562600" cy="687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s-ES_tradnl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8</a:t>
            </a:r>
            <a:r>
              <a:rPr lang="es-ES_tradnl" sz="2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.   Reporte Final.</a:t>
            </a:r>
          </a:p>
        </p:txBody>
      </p:sp>
      <p:sp>
        <p:nvSpPr>
          <p:cNvPr id="6" name="6 CuadroTexto"/>
          <p:cNvSpPr txBox="1"/>
          <p:nvPr/>
        </p:nvSpPr>
        <p:spPr>
          <a:xfrm>
            <a:off x="620713" y="2411760"/>
            <a:ext cx="567063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defRPr/>
            </a:pPr>
            <a:r>
              <a:rPr lang="es-MX" sz="2000" i="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echnical" pitchFamily="34" charset="0"/>
              </a:rPr>
              <a:t>Al final se imprimirá el reporte del usuario que marcara los errores el tiempo y resumirá el desempeño del usuario en un valor , esto se imprimiría en una imagen para mantener registro del desempeño del usuario.</a:t>
            </a:r>
            <a:endParaRPr lang="es-MX" sz="2000" i="0" dirty="0" smtClean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defRPr/>
            </a:pPr>
            <a:endParaRPr lang="es-MX" sz="2000" b="1" i="0" dirty="0" smtClean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defRPr/>
            </a:pPr>
            <a:endParaRPr lang="es-MX" sz="2000" b="1" i="0" dirty="0" smtClean="0">
              <a:effectLst>
                <a:outerShdw blurRad="38100" dist="38100" dir="2700000" algn="tl">
                  <a:srgbClr val="C0C0C0"/>
                </a:outerShdw>
              </a:effectLst>
              <a:latin typeface="Technical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45" y="4346975"/>
            <a:ext cx="6397558" cy="380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2873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nblanco">
  <a:themeElements>
    <a:clrScheme name="Enblanco.pot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nblanco.po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 typeface="Monotype Sorts" pitchFamily="2" charset="2"/>
          <a:buChar char="v"/>
          <a:tabLst/>
          <a:defRPr kumimoji="0" lang="es-ES_tradnl" sz="16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 typeface="Monotype Sorts" pitchFamily="2" charset="2"/>
          <a:buChar char="v"/>
          <a:tabLst/>
          <a:defRPr kumimoji="0" lang="es-ES_tradnl" sz="16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Enblanco.po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nblanco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nblanco.po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nblanco.po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nblanco.po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nblanco.po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nblanco.po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Revisi_x00f3_n xmlns="e29f4829-e572-4952-b8d2-71cfca3e69ed">00</Revisi_x00f3_n>
    <Fecha_x0020_de_x0020_Emisi_x00f3_n xmlns="e29f4829-e572-4952-b8d2-71cfca3e69ed">2018-09-06T05:00:00+00:00</Fecha_x0020_de_x0020_Emisi_x00f3_n>
    <Fecha_x0020_de_x0020_Revisi_x00f3_n xmlns="e29f4829-e572-4952-b8d2-71cfca3e69ed">2018-09-06T05:00:00+00:00</Fecha_x0020_de_x0020_Revisi_x00f3_n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2B09DCF335C0140BD2BDD967D7916A6" ma:contentTypeVersion="4" ma:contentTypeDescription="Crear nuevo documento." ma:contentTypeScope="" ma:versionID="cb8aec6335d8d17572ce013d0c4f455e">
  <xsd:schema xmlns:xsd="http://www.w3.org/2001/XMLSchema" xmlns:p="http://schemas.microsoft.com/office/2006/metadata/properties" xmlns:ns2="e29f4829-e572-4952-b8d2-71cfca3e69ed" targetNamespace="http://schemas.microsoft.com/office/2006/metadata/properties" ma:root="true" ma:fieldsID="362046838d8344191e32358bfdfdc23f" ns2:_="">
    <xsd:import namespace="e29f4829-e572-4952-b8d2-71cfca3e69ed"/>
    <xsd:element name="properties">
      <xsd:complexType>
        <xsd:sequence>
          <xsd:element name="documentManagement">
            <xsd:complexType>
              <xsd:all>
                <xsd:element ref="ns2:Revisi_x00f3_n" minOccurs="0"/>
                <xsd:element ref="ns2:Fecha_x0020_de_x0020_Revisi_x00f3_n" minOccurs="0"/>
                <xsd:element ref="ns2:Fecha_x0020_de_x0020_Emisi_x00f3_n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e29f4829-e572-4952-b8d2-71cfca3e69ed" elementFormDefault="qualified">
    <xsd:import namespace="http://schemas.microsoft.com/office/2006/documentManagement/types"/>
    <xsd:element name="Revisi_x00f3_n" ma:index="8" nillable="true" ma:displayName="Revisión" ma:internalName="Revisi_x00f3_n">
      <xsd:simpleType>
        <xsd:restriction base="dms:Text">
          <xsd:maxLength value="255"/>
        </xsd:restriction>
      </xsd:simpleType>
    </xsd:element>
    <xsd:element name="Fecha_x0020_de_x0020_Revisi_x00f3_n" ma:index="9" nillable="true" ma:displayName="Fecha de Revisión" ma:format="DateOnly" ma:internalName="Fecha_x0020_de_x0020_Revisi_x00f3_n">
      <xsd:simpleType>
        <xsd:restriction base="dms:DateTime"/>
      </xsd:simpleType>
    </xsd:element>
    <xsd:element name="Fecha_x0020_de_x0020_Emisi_x00f3_n" ma:index="10" nillable="true" ma:displayName="Fecha de Emisión" ma:format="DateOnly" ma:internalName="Fecha_x0020_de_x0020_Emisi_x00f3_n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 ma:readOnly="tru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9D94FE7-B5FE-4FF7-B4A3-BA0926AB8926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dcmitype/"/>
    <ds:schemaRef ds:uri="e29f4829-e572-4952-b8d2-71cfca3e69ed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EAF34FA-6D52-4D13-B4E7-633612C275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9f4829-e572-4952-b8d2-71cfca3e69ed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54E8DF67-7EA9-46F1-8F70-EEB932BE9D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D:\MSOffice\Plantill\ENBLANCO.POT</Template>
  <TotalTime>27340</TotalTime>
  <Words>464</Words>
  <Application>Microsoft Office PowerPoint</Application>
  <PresentationFormat>Carta (216 x 279 mm)</PresentationFormat>
  <Paragraphs>57</Paragraphs>
  <Slides>11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Monotype Sorts</vt:lpstr>
      <vt:lpstr>Technical</vt:lpstr>
      <vt:lpstr>Times New Roman</vt:lpstr>
      <vt:lpstr>Wingdings</vt:lpstr>
      <vt:lpstr>Enblanco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DIRECCION ADJUNTA</dc:creator>
  <cp:lastModifiedBy>Bertino Hernandez Cancino</cp:lastModifiedBy>
  <cp:revision>881</cp:revision>
  <cp:lastPrinted>2016-05-16T19:57:55Z</cp:lastPrinted>
  <dcterms:created xsi:type="dcterms:W3CDTF">1995-06-02T21:27:28Z</dcterms:created>
  <dcterms:modified xsi:type="dcterms:W3CDTF">2019-10-14T19:33:48Z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0x01010052B09DCF335C0140BD2BDD967D7916A6</vt:lpwstr>
  </property>
  <property fmtid="{D5CDD505-2E9C-101B-9397-08002B2CF9AE}" pid="3" name="Revisión">
    <vt:lpwstr>03</vt:lpwstr>
  </property>
  <property fmtid="{D5CDD505-2E9C-101B-9397-08002B2CF9AE}" pid="4" name="Fecha de Revisión">
    <vt:lpwstr>2011-11-08T00:00:00Z</vt:lpwstr>
  </property>
  <property fmtid="{D5CDD505-2E9C-101B-9397-08002B2CF9AE}" pid="5" name="Fecha de Emisión">
    <vt:lpwstr>2005-10-20T00:00:00Z</vt:lpwstr>
  </property>
</Properties>
</file>